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</p:sldIdLst>
  <p:sldSz cx="9144000" cy="5143500" type="screen16x9"/>
  <p:notesSz cx="9144000" cy="51435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720"/>
  </p:normalViewPr>
  <p:slideViewPr>
    <p:cSldViewPr>
      <p:cViewPr varScale="1">
        <p:scale>
          <a:sx n="272" d="100"/>
          <a:sy n="272" d="100"/>
        </p:scale>
        <p:origin x="216" y="3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5224" y="973564"/>
            <a:ext cx="8573551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49" y="0"/>
            <a:ext cx="9134475" cy="689610"/>
          </a:xfrm>
          <a:custGeom>
            <a:avLst/>
            <a:gdLst/>
            <a:ahLst/>
            <a:cxnLst/>
            <a:rect l="l" t="t" r="r" b="b"/>
            <a:pathLst>
              <a:path w="9134475" h="689610">
                <a:moveTo>
                  <a:pt x="0" y="0"/>
                </a:moveTo>
                <a:lnTo>
                  <a:pt x="9134249" y="0"/>
                </a:lnTo>
                <a:lnTo>
                  <a:pt x="9134249" y="689399"/>
                </a:lnTo>
                <a:lnTo>
                  <a:pt x="0" y="689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30200" y="70349"/>
            <a:ext cx="548699" cy="548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200" y="41900"/>
            <a:ext cx="2020324" cy="605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150" y="859156"/>
            <a:ext cx="8995699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8625" y="2320446"/>
            <a:ext cx="4769485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6125" y="4778067"/>
            <a:ext cx="2178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2.png"/><Relationship Id="rId7" Type="http://schemas.openxmlformats.org/officeDocument/2006/relationships/image" Target="../media/image3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Relationship Id="rId9" Type="http://schemas.openxmlformats.org/officeDocument/2006/relationships/image" Target="../media/image4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13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12" Type="http://schemas.openxmlformats.org/officeDocument/2006/relationships/image" Target="../media/image5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g"/><Relationship Id="rId11" Type="http://schemas.openxmlformats.org/officeDocument/2006/relationships/image" Target="../media/image49.jpg"/><Relationship Id="rId5" Type="http://schemas.openxmlformats.org/officeDocument/2006/relationships/image" Target="../media/image43.jpg"/><Relationship Id="rId10" Type="http://schemas.openxmlformats.org/officeDocument/2006/relationships/image" Target="../media/image48.jpg"/><Relationship Id="rId4" Type="http://schemas.openxmlformats.org/officeDocument/2006/relationships/image" Target="../media/image42.jpg"/><Relationship Id="rId9" Type="http://schemas.openxmlformats.org/officeDocument/2006/relationships/image" Target="../media/image4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jpeg"/><Relationship Id="rId4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89610"/>
            <a:ext cx="6071105" cy="4454525"/>
            <a:chOff x="0" y="689350"/>
            <a:chExt cx="6071105" cy="4454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475" y="689350"/>
              <a:ext cx="5929298" cy="44541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1475" y="689350"/>
              <a:ext cx="5929630" cy="4454525"/>
            </a:xfrm>
            <a:custGeom>
              <a:avLst/>
              <a:gdLst/>
              <a:ahLst/>
              <a:cxnLst/>
              <a:rect l="l" t="t" r="r" b="b"/>
              <a:pathLst>
                <a:path w="5929630" h="4454525">
                  <a:moveTo>
                    <a:pt x="49" y="49"/>
                  </a:moveTo>
                  <a:lnTo>
                    <a:pt x="5929249" y="49"/>
                  </a:lnTo>
                  <a:lnTo>
                    <a:pt x="5929249" y="4454149"/>
                  </a:lnTo>
                  <a:lnTo>
                    <a:pt x="49" y="4454149"/>
                  </a:lnTo>
                  <a:lnTo>
                    <a:pt x="49" y="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930945"/>
              <a:ext cx="3377565" cy="732155"/>
            </a:xfrm>
            <a:custGeom>
              <a:avLst/>
              <a:gdLst/>
              <a:ahLst/>
              <a:cxnLst/>
              <a:rect l="l" t="t" r="r" b="b"/>
              <a:pathLst>
                <a:path w="3377565" h="732155">
                  <a:moveTo>
                    <a:pt x="0" y="0"/>
                  </a:moveTo>
                  <a:lnTo>
                    <a:pt x="3377099" y="0"/>
                  </a:lnTo>
                  <a:lnTo>
                    <a:pt x="3377099" y="731999"/>
                  </a:lnTo>
                  <a:lnTo>
                    <a:pt x="0" y="731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2650" y="2173181"/>
            <a:ext cx="50533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¿Qué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ciencia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datos?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¿Hay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mercado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laboral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ciencia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datos?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¿Cuáles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son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las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competencias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un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científico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1800" spc="-48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datos?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82600" y="1969404"/>
            <a:ext cx="2745824" cy="15435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9749" y="0"/>
            <a:ext cx="9134475" cy="689610"/>
            <a:chOff x="9749" y="0"/>
            <a:chExt cx="9134475" cy="689610"/>
          </a:xfrm>
        </p:grpSpPr>
        <p:sp>
          <p:nvSpPr>
            <p:cNvPr id="9" name="object 9"/>
            <p:cNvSpPr/>
            <p:nvPr/>
          </p:nvSpPr>
          <p:spPr>
            <a:xfrm>
              <a:off x="9749" y="0"/>
              <a:ext cx="9134475" cy="689610"/>
            </a:xfrm>
            <a:custGeom>
              <a:avLst/>
              <a:gdLst/>
              <a:ahLst/>
              <a:cxnLst/>
              <a:rect l="l" t="t" r="r" b="b"/>
              <a:pathLst>
                <a:path w="9134475" h="689610">
                  <a:moveTo>
                    <a:pt x="0" y="0"/>
                  </a:moveTo>
                  <a:lnTo>
                    <a:pt x="9134249" y="0"/>
                  </a:lnTo>
                  <a:lnTo>
                    <a:pt x="9134249" y="689399"/>
                  </a:lnTo>
                  <a:lnTo>
                    <a:pt x="0" y="689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0200" y="70349"/>
              <a:ext cx="548699" cy="5486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200" y="41900"/>
              <a:ext cx="2020324" cy="6055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17050" y="1076840"/>
            <a:ext cx="20415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Ciencia</a:t>
            </a:r>
            <a:r>
              <a:rPr sz="2000" spc="-45" dirty="0"/>
              <a:t> </a:t>
            </a:r>
            <a:r>
              <a:rPr sz="2000" spc="-5" dirty="0"/>
              <a:t>de</a:t>
            </a:r>
            <a:r>
              <a:rPr sz="2000" spc="-45" dirty="0"/>
              <a:t> </a:t>
            </a:r>
            <a:r>
              <a:rPr sz="2000" spc="-5" dirty="0"/>
              <a:t>datos</a:t>
            </a:r>
            <a:endParaRPr sz="200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04" y="684579"/>
            <a:ext cx="6944515" cy="44542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6704" y="684579"/>
            <a:ext cx="6944995" cy="4454525"/>
          </a:xfrm>
          <a:custGeom>
            <a:avLst/>
            <a:gdLst/>
            <a:ahLst/>
            <a:cxnLst/>
            <a:rect l="l" t="t" r="r" b="b"/>
            <a:pathLst>
              <a:path w="6944995" h="4454525">
                <a:moveTo>
                  <a:pt x="57" y="57"/>
                </a:moveTo>
                <a:lnTo>
                  <a:pt x="6944457" y="57"/>
                </a:lnTo>
                <a:lnTo>
                  <a:pt x="6944457" y="4454157"/>
                </a:lnTo>
                <a:lnTo>
                  <a:pt x="57" y="4454157"/>
                </a:lnTo>
                <a:lnTo>
                  <a:pt x="57" y="57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4124" y="1605956"/>
            <a:ext cx="6486525" cy="308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Aplicar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método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científico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Arial MT"/>
              <a:buChar char="●"/>
            </a:pPr>
            <a:endParaRPr sz="185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  <a:tab pos="661035" algn="l"/>
                <a:tab pos="1095375" algn="l"/>
                <a:tab pos="1797050" algn="l"/>
                <a:tab pos="3235325" algn="l"/>
                <a:tab pos="3505200" algn="l"/>
                <a:tab pos="4206240" algn="l"/>
                <a:tab pos="5300980" algn="l"/>
                <a:tab pos="634555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lo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dato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	relacionados	</a:t>
            </a:r>
            <a:r>
              <a:rPr lang="es-ES" dirty="0">
                <a:solidFill>
                  <a:srgbClr val="FFFFFF"/>
                </a:solidFill>
                <a:latin typeface="Arial MT"/>
                <a:cs typeface="Arial MT"/>
              </a:rPr>
              <a:t>con </a:t>
            </a:r>
            <a:r>
              <a:rPr sz="1800" spc="-5" dirty="0" err="1">
                <a:solidFill>
                  <a:srgbClr val="FFFFFF"/>
                </a:solidFill>
                <a:latin typeface="Arial MT"/>
                <a:cs typeface="Arial MT"/>
              </a:rPr>
              <a:t>algú</a:t>
            </a:r>
            <a:r>
              <a:rPr sz="1800" dirty="0" err="1">
                <a:solidFill>
                  <a:srgbClr val="FFFFFF"/>
                </a:solidFill>
                <a:latin typeface="Arial MT"/>
                <a:cs typeface="Arial MT"/>
              </a:rPr>
              <a:t>n</a:t>
            </a:r>
            <a:r>
              <a:rPr lang="es-ES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 err="1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r>
              <a:rPr sz="1800" dirty="0" err="1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	científico	u 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organizacional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Arial MT"/>
              <a:buChar char="●"/>
            </a:pPr>
            <a:endParaRPr sz="185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ya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tienen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pueden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conseguir.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Arial MT"/>
              <a:buChar char="●"/>
            </a:pPr>
            <a:endParaRPr sz="185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Con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propósito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de:</a:t>
            </a:r>
            <a:endParaRPr sz="1800" dirty="0">
              <a:latin typeface="Arial MT"/>
              <a:cs typeface="Arial MT"/>
            </a:endParaRPr>
          </a:p>
          <a:p>
            <a:pPr marL="836294" lvl="1" indent="-367030">
              <a:lnSpc>
                <a:spcPct val="100000"/>
              </a:lnSpc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Entender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y/o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explicar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fenómenos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pasado</a:t>
            </a:r>
            <a:endParaRPr sz="1800" dirty="0">
              <a:latin typeface="Arial MT"/>
              <a:cs typeface="Arial MT"/>
            </a:endParaRPr>
          </a:p>
          <a:p>
            <a:pPr marL="836294" lvl="1" indent="-367030">
              <a:lnSpc>
                <a:spcPct val="100000"/>
              </a:lnSpc>
              <a:buChar char="○"/>
              <a:tabLst>
                <a:tab pos="836294" algn="l"/>
                <a:tab pos="8369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Predecir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futuro</a:t>
            </a:r>
            <a:endParaRPr sz="1800" dirty="0">
              <a:latin typeface="Arial MT"/>
              <a:cs typeface="Arial MT"/>
            </a:endParaRPr>
          </a:p>
          <a:p>
            <a:pPr marL="836294" lvl="1" indent="-367030">
              <a:lnSpc>
                <a:spcPct val="100000"/>
              </a:lnSpc>
              <a:buChar char="○"/>
              <a:tabLst>
                <a:tab pos="836294" algn="l"/>
                <a:tab pos="836930" algn="l"/>
              </a:tabLst>
            </a:pP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Ayudar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toma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decisiones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4" y="0"/>
            <a:ext cx="9134475" cy="4404098"/>
            <a:chOff x="9749" y="0"/>
            <a:chExt cx="9134475" cy="4404098"/>
          </a:xfrm>
        </p:grpSpPr>
        <p:sp>
          <p:nvSpPr>
            <p:cNvPr id="7" name="object 7"/>
            <p:cNvSpPr/>
            <p:nvPr/>
          </p:nvSpPr>
          <p:spPr>
            <a:xfrm>
              <a:off x="9749" y="0"/>
              <a:ext cx="9134475" cy="689610"/>
            </a:xfrm>
            <a:custGeom>
              <a:avLst/>
              <a:gdLst/>
              <a:ahLst/>
              <a:cxnLst/>
              <a:rect l="l" t="t" r="r" b="b"/>
              <a:pathLst>
                <a:path w="9134475" h="689610">
                  <a:moveTo>
                    <a:pt x="0" y="0"/>
                  </a:moveTo>
                  <a:lnTo>
                    <a:pt x="9134249" y="0"/>
                  </a:lnTo>
                  <a:lnTo>
                    <a:pt x="9134249" y="689399"/>
                  </a:lnTo>
                  <a:lnTo>
                    <a:pt x="0" y="689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0200" y="70349"/>
              <a:ext cx="548699" cy="5486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00" y="41900"/>
              <a:ext cx="2020324" cy="6055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0843" y="2849925"/>
              <a:ext cx="1796898" cy="1554173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60C620FF-7790-DC2B-B531-069EF0920A90}"/>
              </a:ext>
            </a:extLst>
          </p:cNvPr>
          <p:cNvSpPr/>
          <p:nvPr/>
        </p:nvSpPr>
        <p:spPr>
          <a:xfrm>
            <a:off x="0" y="781705"/>
            <a:ext cx="4114800" cy="732155"/>
          </a:xfrm>
          <a:custGeom>
            <a:avLst/>
            <a:gdLst/>
            <a:ahLst/>
            <a:cxnLst/>
            <a:rect l="l" t="t" r="r" b="b"/>
            <a:pathLst>
              <a:path w="3377565" h="732155">
                <a:moveTo>
                  <a:pt x="0" y="0"/>
                </a:moveTo>
                <a:lnTo>
                  <a:pt x="3377099" y="0"/>
                </a:lnTo>
                <a:lnTo>
                  <a:pt x="33770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97475" y="932303"/>
            <a:ext cx="35058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¿Qué</a:t>
            </a:r>
            <a:r>
              <a:rPr sz="2000" spc="-20" dirty="0"/>
              <a:t> </a:t>
            </a:r>
            <a:r>
              <a:rPr sz="2000" spc="-5" dirty="0"/>
              <a:t>es</a:t>
            </a:r>
            <a:r>
              <a:rPr sz="2000" spc="-20" dirty="0"/>
              <a:t> </a:t>
            </a:r>
            <a:r>
              <a:rPr sz="2000" spc="-5" dirty="0"/>
              <a:t>la</a:t>
            </a:r>
            <a:r>
              <a:rPr sz="2000" spc="-20" dirty="0"/>
              <a:t> </a:t>
            </a:r>
            <a:r>
              <a:rPr sz="2000" spc="-5" dirty="0"/>
              <a:t>ciencia</a:t>
            </a:r>
            <a:r>
              <a:rPr sz="2000" spc="-20" dirty="0"/>
              <a:t> </a:t>
            </a:r>
            <a:r>
              <a:rPr sz="2000" spc="-5" dirty="0"/>
              <a:t>de</a:t>
            </a:r>
            <a:r>
              <a:rPr sz="2000" spc="-20" dirty="0"/>
              <a:t> </a:t>
            </a:r>
            <a:r>
              <a:rPr sz="2000" spc="-5" dirty="0"/>
              <a:t>datos?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528" y="708756"/>
            <a:ext cx="5177786" cy="44479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1524" y="695534"/>
            <a:ext cx="5177790" cy="4448175"/>
          </a:xfrm>
          <a:custGeom>
            <a:avLst/>
            <a:gdLst/>
            <a:ahLst/>
            <a:cxnLst/>
            <a:rect l="l" t="t" r="r" b="b"/>
            <a:pathLst>
              <a:path w="5177790" h="4448175">
                <a:moveTo>
                  <a:pt x="0" y="43"/>
                </a:moveTo>
                <a:lnTo>
                  <a:pt x="5177699" y="43"/>
                </a:lnTo>
                <a:lnTo>
                  <a:pt x="5177700" y="4447965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1503" y="695577"/>
            <a:ext cx="0" cy="4448175"/>
          </a:xfrm>
          <a:custGeom>
            <a:avLst/>
            <a:gdLst/>
            <a:ahLst/>
            <a:cxnLst/>
            <a:rect l="l" t="t" r="r" b="b"/>
            <a:pathLst>
              <a:path h="4448175">
                <a:moveTo>
                  <a:pt x="0" y="841246"/>
                </a:moveTo>
                <a:lnTo>
                  <a:pt x="0" y="4447921"/>
                </a:lnTo>
              </a:path>
              <a:path h="4448175">
                <a:moveTo>
                  <a:pt x="0" y="0"/>
                </a:moveTo>
                <a:lnTo>
                  <a:pt x="0" y="109246"/>
                </a:lnTo>
              </a:path>
            </a:pathLst>
          </a:custGeom>
          <a:ln w="9568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49" y="0"/>
            <a:ext cx="9134475" cy="689610"/>
          </a:xfrm>
          <a:custGeom>
            <a:avLst/>
            <a:gdLst/>
            <a:ahLst/>
            <a:cxnLst/>
            <a:rect l="l" t="t" r="r" b="b"/>
            <a:pathLst>
              <a:path w="9134475" h="689610">
                <a:moveTo>
                  <a:pt x="0" y="0"/>
                </a:moveTo>
                <a:lnTo>
                  <a:pt x="9134249" y="0"/>
                </a:lnTo>
                <a:lnTo>
                  <a:pt x="9134249" y="689399"/>
                </a:lnTo>
                <a:lnTo>
                  <a:pt x="0" y="689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0200" y="70349"/>
            <a:ext cx="548699" cy="5486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00" y="41900"/>
            <a:ext cx="2020324" cy="6055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71991" y="1080401"/>
            <a:ext cx="3492557" cy="2522767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xfrm>
            <a:off x="228600" y="1809750"/>
            <a:ext cx="4876800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lang="es-ES" spc="-5" dirty="0"/>
              <a:t>Es un método de investigación usado principalmente en la producción de conocimiento en las ciencias.</a:t>
            </a:r>
          </a:p>
          <a:p>
            <a:pPr marL="12700" marR="5080" algn="just">
              <a:lnSpc>
                <a:spcPct val="100000"/>
              </a:lnSpc>
            </a:pPr>
            <a:endParaRPr lang="es-ES" spc="-5" dirty="0"/>
          </a:p>
          <a:p>
            <a:pPr marL="12700" marR="5080" algn="just">
              <a:lnSpc>
                <a:spcPct val="100000"/>
              </a:lnSpc>
            </a:pPr>
            <a:r>
              <a:rPr lang="es-ES" spc="-5" dirty="0"/>
              <a:t>Consiste en una serie ordenada de procedimientos racionales, analíticos y verificables, del que hace uso la investigación científica para extender nuestros conocimientos en algún área, a veces con aplicaciones prácticas.  </a:t>
            </a:r>
            <a:endParaRPr spc="-5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5563378" y="3901713"/>
            <a:ext cx="3186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i="1" spc="-5" dirty="0">
                <a:latin typeface="Arial"/>
                <a:cs typeface="Arial"/>
              </a:rPr>
              <a:t>¿en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5" dirty="0">
                <a:latin typeface="Arial"/>
                <a:cs typeface="Arial"/>
              </a:rPr>
              <a:t>qué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spc="-5" dirty="0">
                <a:latin typeface="Arial"/>
                <a:cs typeface="Arial"/>
              </a:rPr>
              <a:t>etapa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spc="-5" dirty="0">
                <a:latin typeface="Arial"/>
                <a:cs typeface="Arial"/>
              </a:rPr>
              <a:t>del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método</a:t>
            </a:r>
            <a:r>
              <a:rPr sz="1400" i="1" spc="-15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científico</a:t>
            </a:r>
            <a:r>
              <a:rPr sz="1400" i="1" spc="-2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son </a:t>
            </a:r>
            <a:r>
              <a:rPr sz="1400" i="1" spc="-375" dirty="0">
                <a:latin typeface="Arial"/>
                <a:cs typeface="Arial"/>
              </a:rPr>
              <a:t> </a:t>
            </a:r>
            <a:r>
              <a:rPr sz="1400" i="1" spc="-5" dirty="0">
                <a:latin typeface="Arial"/>
                <a:cs typeface="Arial"/>
              </a:rPr>
              <a:t>importantes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5" dirty="0">
                <a:latin typeface="Arial"/>
                <a:cs typeface="Arial"/>
              </a:rPr>
              <a:t>los</a:t>
            </a:r>
            <a:r>
              <a:rPr sz="1400" i="1" spc="-10" dirty="0">
                <a:latin typeface="Arial"/>
                <a:cs typeface="Arial"/>
              </a:rPr>
              <a:t> </a:t>
            </a:r>
            <a:r>
              <a:rPr sz="1400" i="1" spc="-5" dirty="0">
                <a:latin typeface="Arial"/>
                <a:cs typeface="Arial"/>
              </a:rPr>
              <a:t>datos?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975D2477-B475-5779-0D1E-3E381097319B}"/>
              </a:ext>
            </a:extLst>
          </p:cNvPr>
          <p:cNvSpPr/>
          <p:nvPr/>
        </p:nvSpPr>
        <p:spPr>
          <a:xfrm>
            <a:off x="-11196" y="817607"/>
            <a:ext cx="3377565" cy="732155"/>
          </a:xfrm>
          <a:custGeom>
            <a:avLst/>
            <a:gdLst/>
            <a:ahLst/>
            <a:cxnLst/>
            <a:rect l="l" t="t" r="r" b="b"/>
            <a:pathLst>
              <a:path w="3377565" h="732155">
                <a:moveTo>
                  <a:pt x="0" y="0"/>
                </a:moveTo>
                <a:lnTo>
                  <a:pt x="3377099" y="0"/>
                </a:lnTo>
                <a:lnTo>
                  <a:pt x="33770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85224" y="973564"/>
            <a:ext cx="24364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El</a:t>
            </a:r>
            <a:r>
              <a:rPr sz="2000" spc="-50" dirty="0"/>
              <a:t> </a:t>
            </a:r>
            <a:r>
              <a:rPr sz="2000" spc="-5" dirty="0"/>
              <a:t>método</a:t>
            </a:r>
            <a:r>
              <a:rPr sz="2000" spc="-45" dirty="0"/>
              <a:t> </a:t>
            </a:r>
            <a:r>
              <a:rPr sz="2000" spc="-5" dirty="0"/>
              <a:t>científico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481" y="689356"/>
            <a:ext cx="5177790" cy="4454525"/>
            <a:chOff x="141481" y="689356"/>
            <a:chExt cx="5177790" cy="44545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481" y="689356"/>
              <a:ext cx="5177786" cy="44541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1481" y="689356"/>
              <a:ext cx="5177790" cy="4454525"/>
            </a:xfrm>
            <a:custGeom>
              <a:avLst/>
              <a:gdLst/>
              <a:ahLst/>
              <a:cxnLst/>
              <a:rect l="l" t="t" r="r" b="b"/>
              <a:pathLst>
                <a:path w="5177790" h="4454525">
                  <a:moveTo>
                    <a:pt x="43" y="43"/>
                  </a:moveTo>
                  <a:lnTo>
                    <a:pt x="5177743" y="43"/>
                  </a:lnTo>
                  <a:lnTo>
                    <a:pt x="5177743" y="4454143"/>
                  </a:lnTo>
                  <a:lnTo>
                    <a:pt x="43" y="4454143"/>
                  </a:lnTo>
                  <a:lnTo>
                    <a:pt x="43" y="4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9149" y="2046126"/>
            <a:ext cx="420370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sistemas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transaccionales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fuentes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públicas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compartidos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por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clientes/proveedores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basados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experimentación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bases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datos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literatura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científica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lang="en-US" sz="1800" spc="-5" dirty="0" err="1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r>
              <a:rPr sz="1800" spc="-5" dirty="0" err="1">
                <a:solidFill>
                  <a:srgbClr val="FFFFFF"/>
                </a:solidFill>
                <a:latin typeface="Arial MT"/>
                <a:cs typeface="Arial MT"/>
              </a:rPr>
              <a:t>atentes</a:t>
            </a:r>
            <a:endParaRPr lang="es-ES" sz="1800" spc="-5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lang="en-CL" sz="1800" spc="-5" dirty="0">
                <a:solidFill>
                  <a:srgbClr val="FFFFFF"/>
                </a:solidFill>
                <a:latin typeface="Arial MT"/>
                <a:cs typeface="Arial MT"/>
              </a:rPr>
              <a:t>Sensores o dispositivos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27950" y="770675"/>
            <a:ext cx="2707640" cy="4286250"/>
            <a:chOff x="6027950" y="770675"/>
            <a:chExt cx="2707640" cy="42862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7950" y="770675"/>
              <a:ext cx="2707224" cy="20325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0375" y="2912875"/>
              <a:ext cx="2433949" cy="214394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C4FFE158-7684-81C5-22B8-B1E03CAE78B9}"/>
              </a:ext>
            </a:extLst>
          </p:cNvPr>
          <p:cNvSpPr/>
          <p:nvPr/>
        </p:nvSpPr>
        <p:spPr>
          <a:xfrm>
            <a:off x="0" y="819150"/>
            <a:ext cx="3377565" cy="732155"/>
          </a:xfrm>
          <a:custGeom>
            <a:avLst/>
            <a:gdLst/>
            <a:ahLst/>
            <a:cxnLst/>
            <a:rect l="l" t="t" r="r" b="b"/>
            <a:pathLst>
              <a:path w="3377565" h="732155">
                <a:moveTo>
                  <a:pt x="0" y="0"/>
                </a:moveTo>
                <a:lnTo>
                  <a:pt x="3377099" y="0"/>
                </a:lnTo>
                <a:lnTo>
                  <a:pt x="33770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4866" y="973564"/>
            <a:ext cx="27578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Datos</a:t>
            </a:r>
            <a:r>
              <a:rPr sz="2000" spc="-45" dirty="0"/>
              <a:t> </a:t>
            </a:r>
            <a:r>
              <a:rPr sz="2000" spc="-5" dirty="0"/>
              <a:t>procedentes</a:t>
            </a:r>
            <a:r>
              <a:rPr sz="2000" spc="-45" dirty="0"/>
              <a:t> </a:t>
            </a:r>
            <a:r>
              <a:rPr sz="2000" spc="-5" dirty="0"/>
              <a:t>de: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0300" y="2310325"/>
            <a:ext cx="2853599" cy="731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749" y="0"/>
            <a:ext cx="9134475" cy="689610"/>
          </a:xfrm>
          <a:custGeom>
            <a:avLst/>
            <a:gdLst/>
            <a:ahLst/>
            <a:cxnLst/>
            <a:rect l="l" t="t" r="r" b="b"/>
            <a:pathLst>
              <a:path w="9134475" h="689610">
                <a:moveTo>
                  <a:pt x="0" y="0"/>
                </a:moveTo>
                <a:lnTo>
                  <a:pt x="9134249" y="0"/>
                </a:lnTo>
                <a:lnTo>
                  <a:pt x="9134249" y="689399"/>
                </a:lnTo>
                <a:lnTo>
                  <a:pt x="0" y="6893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0200" y="70349"/>
            <a:ext cx="548699" cy="5486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00" y="41900"/>
            <a:ext cx="2020324" cy="6055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474" y="689349"/>
            <a:ext cx="6090401" cy="445420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41474" y="689349"/>
            <a:ext cx="6090920" cy="4454525"/>
          </a:xfrm>
          <a:custGeom>
            <a:avLst/>
            <a:gdLst/>
            <a:ahLst/>
            <a:cxnLst/>
            <a:rect l="l" t="t" r="r" b="b"/>
            <a:pathLst>
              <a:path w="6090920" h="4454525">
                <a:moveTo>
                  <a:pt x="50" y="50"/>
                </a:moveTo>
                <a:lnTo>
                  <a:pt x="6090350" y="50"/>
                </a:lnTo>
                <a:lnTo>
                  <a:pt x="6090350" y="4454150"/>
                </a:lnTo>
                <a:lnTo>
                  <a:pt x="50" y="4454150"/>
                </a:lnTo>
                <a:lnTo>
                  <a:pt x="50" y="50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9149" y="2046126"/>
            <a:ext cx="4660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Entender,</a:t>
            </a:r>
            <a:r>
              <a:rPr sz="1800" spc="2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describir</a:t>
            </a:r>
            <a:r>
              <a:rPr sz="180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1800" spc="2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explicar</a:t>
            </a:r>
            <a:r>
              <a:rPr sz="180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fenómenos </a:t>
            </a:r>
            <a:r>
              <a:rPr sz="1800" spc="-48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pasado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149" y="2869086"/>
            <a:ext cx="3191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Predecir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fenómenos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futuros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6349" y="3143406"/>
            <a:ext cx="247205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○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Disminuir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costos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○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Mitigar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riesgos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○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Aumentar</a:t>
            </a:r>
            <a:r>
              <a:rPr sz="1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beneficios</a:t>
            </a:r>
            <a:endParaRPr sz="1800" dirty="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○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Mejorar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eficiencia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87899" y="2079100"/>
            <a:ext cx="3190875" cy="2621915"/>
            <a:chOff x="5787899" y="2079100"/>
            <a:chExt cx="3190875" cy="262191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93513" y="3119575"/>
              <a:ext cx="2484681" cy="158114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797424" y="2088625"/>
              <a:ext cx="381000" cy="2247900"/>
            </a:xfrm>
            <a:custGeom>
              <a:avLst/>
              <a:gdLst/>
              <a:ahLst/>
              <a:cxnLst/>
              <a:rect l="l" t="t" r="r" b="b"/>
              <a:pathLst>
                <a:path w="381000" h="2247900">
                  <a:moveTo>
                    <a:pt x="0" y="0"/>
                  </a:moveTo>
                  <a:lnTo>
                    <a:pt x="37308" y="3691"/>
                  </a:lnTo>
                  <a:lnTo>
                    <a:pt x="72843" y="14489"/>
                  </a:lnTo>
                  <a:lnTo>
                    <a:pt x="134597" y="55752"/>
                  </a:lnTo>
                  <a:lnTo>
                    <a:pt x="175860" y="117506"/>
                  </a:lnTo>
                  <a:lnTo>
                    <a:pt x="190349" y="190349"/>
                  </a:lnTo>
                  <a:lnTo>
                    <a:pt x="190349" y="933599"/>
                  </a:lnTo>
                  <a:lnTo>
                    <a:pt x="195377" y="977245"/>
                  </a:lnTo>
                  <a:lnTo>
                    <a:pt x="209697" y="1017311"/>
                  </a:lnTo>
                  <a:lnTo>
                    <a:pt x="232167" y="1052654"/>
                  </a:lnTo>
                  <a:lnTo>
                    <a:pt x="261645" y="1082132"/>
                  </a:lnTo>
                  <a:lnTo>
                    <a:pt x="296988" y="1104602"/>
                  </a:lnTo>
                  <a:lnTo>
                    <a:pt x="337054" y="1118922"/>
                  </a:lnTo>
                  <a:lnTo>
                    <a:pt x="380699" y="1123949"/>
                  </a:lnTo>
                  <a:lnTo>
                    <a:pt x="337054" y="1128977"/>
                  </a:lnTo>
                  <a:lnTo>
                    <a:pt x="296988" y="1143297"/>
                  </a:lnTo>
                  <a:lnTo>
                    <a:pt x="261645" y="1165767"/>
                  </a:lnTo>
                  <a:lnTo>
                    <a:pt x="232167" y="1195245"/>
                  </a:lnTo>
                  <a:lnTo>
                    <a:pt x="209697" y="1230588"/>
                  </a:lnTo>
                  <a:lnTo>
                    <a:pt x="195377" y="1270654"/>
                  </a:lnTo>
                  <a:lnTo>
                    <a:pt x="190349" y="1314299"/>
                  </a:lnTo>
                  <a:lnTo>
                    <a:pt x="190349" y="2057549"/>
                  </a:lnTo>
                  <a:lnTo>
                    <a:pt x="185322" y="2101195"/>
                  </a:lnTo>
                  <a:lnTo>
                    <a:pt x="171002" y="2141261"/>
                  </a:lnTo>
                  <a:lnTo>
                    <a:pt x="148532" y="2176604"/>
                  </a:lnTo>
                  <a:lnTo>
                    <a:pt x="119054" y="2206082"/>
                  </a:lnTo>
                  <a:lnTo>
                    <a:pt x="83711" y="2228552"/>
                  </a:lnTo>
                  <a:lnTo>
                    <a:pt x="43645" y="2242872"/>
                  </a:lnTo>
                  <a:lnTo>
                    <a:pt x="0" y="2247899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290300" y="2310325"/>
            <a:ext cx="2853690" cy="732155"/>
          </a:xfrm>
          <a:prstGeom prst="rect">
            <a:avLst/>
          </a:prstGeom>
          <a:ln w="19049">
            <a:solidFill>
              <a:srgbClr val="000000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47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Métodos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cuantitativos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14F157ED-F38C-43FA-CE5C-63C65D959065}"/>
              </a:ext>
            </a:extLst>
          </p:cNvPr>
          <p:cNvSpPr/>
          <p:nvPr/>
        </p:nvSpPr>
        <p:spPr>
          <a:xfrm>
            <a:off x="0" y="829623"/>
            <a:ext cx="5867400" cy="732155"/>
          </a:xfrm>
          <a:custGeom>
            <a:avLst/>
            <a:gdLst/>
            <a:ahLst/>
            <a:cxnLst/>
            <a:rect l="l" t="t" r="r" b="b"/>
            <a:pathLst>
              <a:path w="3377565" h="732155">
                <a:moveTo>
                  <a:pt x="0" y="0"/>
                </a:moveTo>
                <a:lnTo>
                  <a:pt x="3377099" y="0"/>
                </a:lnTo>
                <a:lnTo>
                  <a:pt x="33770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4150" y="973564"/>
            <a:ext cx="56578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¿Con</a:t>
            </a:r>
            <a:r>
              <a:rPr sz="2000" spc="-20" dirty="0"/>
              <a:t> </a:t>
            </a:r>
            <a:r>
              <a:rPr sz="2000" spc="-5" dirty="0"/>
              <a:t>qué</a:t>
            </a:r>
            <a:r>
              <a:rPr sz="2000" spc="-15" dirty="0"/>
              <a:t> </a:t>
            </a:r>
            <a:r>
              <a:rPr sz="2000" spc="-5" dirty="0"/>
              <a:t>propósito</a:t>
            </a:r>
            <a:r>
              <a:rPr sz="2000" spc="-15" dirty="0"/>
              <a:t> </a:t>
            </a:r>
            <a:r>
              <a:rPr sz="2000" spc="-5" dirty="0"/>
              <a:t>usamos</a:t>
            </a:r>
            <a:r>
              <a:rPr sz="2000" spc="-15" dirty="0"/>
              <a:t> </a:t>
            </a:r>
            <a:r>
              <a:rPr sz="2000" spc="-5" dirty="0"/>
              <a:t>ciencia</a:t>
            </a:r>
            <a:r>
              <a:rPr sz="2000" spc="-20" dirty="0"/>
              <a:t> </a:t>
            </a:r>
            <a:r>
              <a:rPr sz="2000" spc="-5" dirty="0"/>
              <a:t>de</a:t>
            </a:r>
            <a:r>
              <a:rPr sz="2000" spc="-15" dirty="0"/>
              <a:t> </a:t>
            </a:r>
            <a:r>
              <a:rPr sz="2000" spc="-5" dirty="0"/>
              <a:t>datos?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483" y="694536"/>
            <a:ext cx="4972882" cy="445418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41483" y="694536"/>
            <a:ext cx="4973320" cy="4454525"/>
          </a:xfrm>
          <a:custGeom>
            <a:avLst/>
            <a:gdLst/>
            <a:ahLst/>
            <a:cxnLst/>
            <a:rect l="l" t="t" r="r" b="b"/>
            <a:pathLst>
              <a:path w="4973320" h="4454525">
                <a:moveTo>
                  <a:pt x="41" y="41"/>
                </a:moveTo>
                <a:lnTo>
                  <a:pt x="4972841" y="41"/>
                </a:lnTo>
                <a:lnTo>
                  <a:pt x="4972841" y="4454141"/>
                </a:lnTo>
                <a:lnTo>
                  <a:pt x="41" y="4454141"/>
                </a:lnTo>
                <a:lnTo>
                  <a:pt x="41" y="41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94007" y="2055901"/>
            <a:ext cx="2778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4280" algn="l"/>
                <a:tab pos="1762125" algn="l"/>
              </a:tabLst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creciente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	diferentes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524" y="2055901"/>
            <a:ext cx="1446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Demanda </a:t>
            </a:r>
            <a:r>
              <a:rPr sz="1800" spc="-4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disciplinas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2524" y="2878861"/>
            <a:ext cx="44189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  <a:tab pos="1202690" algn="l"/>
                <a:tab pos="2232025" algn="l"/>
                <a:tab pos="2677160" algn="l"/>
                <a:tab pos="3782695" algn="l"/>
                <a:tab pos="422783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Poca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	carreras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pregrad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n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la 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región.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Arial MT"/>
              <a:buChar char="●"/>
            </a:pPr>
            <a:endParaRPr sz="185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Variados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cursos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postgrado.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9066" y="800867"/>
            <a:ext cx="3373731" cy="422822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8471B903-CDA7-05A4-226A-1F9BF8800542}"/>
              </a:ext>
            </a:extLst>
          </p:cNvPr>
          <p:cNvSpPr/>
          <p:nvPr/>
        </p:nvSpPr>
        <p:spPr>
          <a:xfrm>
            <a:off x="0" y="833209"/>
            <a:ext cx="3377565" cy="732155"/>
          </a:xfrm>
          <a:custGeom>
            <a:avLst/>
            <a:gdLst/>
            <a:ahLst/>
            <a:cxnLst/>
            <a:rect l="l" t="t" r="r" b="b"/>
            <a:pathLst>
              <a:path w="3377565" h="732155">
                <a:moveTo>
                  <a:pt x="0" y="0"/>
                </a:moveTo>
                <a:lnTo>
                  <a:pt x="3377099" y="0"/>
                </a:lnTo>
                <a:lnTo>
                  <a:pt x="33770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5224" y="973564"/>
            <a:ext cx="1971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Mercado</a:t>
            </a:r>
            <a:r>
              <a:rPr sz="2000" spc="-90" dirty="0"/>
              <a:t> </a:t>
            </a:r>
            <a:r>
              <a:rPr sz="2000" spc="-5" dirty="0"/>
              <a:t>laboral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05" y="689355"/>
            <a:ext cx="5353289" cy="445418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1005" y="689355"/>
            <a:ext cx="5353685" cy="4454525"/>
          </a:xfrm>
          <a:custGeom>
            <a:avLst/>
            <a:gdLst/>
            <a:ahLst/>
            <a:cxnLst/>
            <a:rect l="l" t="t" r="r" b="b"/>
            <a:pathLst>
              <a:path w="5353685" h="4454525">
                <a:moveTo>
                  <a:pt x="44" y="44"/>
                </a:moveTo>
                <a:lnTo>
                  <a:pt x="5353244" y="44"/>
                </a:lnTo>
                <a:lnTo>
                  <a:pt x="5353244" y="4454144"/>
                </a:lnTo>
                <a:lnTo>
                  <a:pt x="44" y="4454144"/>
                </a:lnTo>
                <a:lnTo>
                  <a:pt x="44" y="44"/>
                </a:lnTo>
                <a:close/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3025" y="1771805"/>
            <a:ext cx="4797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¿De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donde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sacamos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entonces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profesionales </a:t>
            </a:r>
            <a:r>
              <a:rPr sz="1800" spc="-4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área?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6329" y="3143406"/>
            <a:ext cx="5213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poco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025" y="2594766"/>
            <a:ext cx="42913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problema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los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profesionales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del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área.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2700" marR="151130">
              <a:lnSpc>
                <a:spcPct val="100000"/>
              </a:lnSpc>
              <a:tabLst>
                <a:tab pos="914400" algn="l"/>
                <a:tab pos="1894205" algn="l"/>
                <a:tab pos="2668905" algn="l"/>
                <a:tab pos="387731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¿Cóm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	manejar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tanta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disciplina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	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en  tiempo?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025" y="3966365"/>
            <a:ext cx="4100829" cy="5745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seniors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FFFFFF"/>
                </a:solidFill>
                <a:latin typeface="Arial"/>
                <a:cs typeface="Arial"/>
              </a:rPr>
              <a:t>vs</a:t>
            </a:r>
            <a:r>
              <a:rPr sz="1800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juniors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2350" y="1098161"/>
            <a:ext cx="2859124" cy="2836788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5F81B5BB-3849-419F-BF24-6EE7E069A7F1}"/>
              </a:ext>
            </a:extLst>
          </p:cNvPr>
          <p:cNvSpPr/>
          <p:nvPr/>
        </p:nvSpPr>
        <p:spPr>
          <a:xfrm>
            <a:off x="0" y="802590"/>
            <a:ext cx="3377565" cy="732155"/>
          </a:xfrm>
          <a:custGeom>
            <a:avLst/>
            <a:gdLst/>
            <a:ahLst/>
            <a:cxnLst/>
            <a:rect l="l" t="t" r="r" b="b"/>
            <a:pathLst>
              <a:path w="3377565" h="732155">
                <a:moveTo>
                  <a:pt x="0" y="0"/>
                </a:moveTo>
                <a:lnTo>
                  <a:pt x="3377099" y="0"/>
                </a:lnTo>
                <a:lnTo>
                  <a:pt x="33770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5224" y="973564"/>
            <a:ext cx="1971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Mercado</a:t>
            </a:r>
            <a:r>
              <a:rPr sz="2000" spc="-90" dirty="0"/>
              <a:t> </a:t>
            </a:r>
            <a:r>
              <a:rPr sz="2000" spc="-5" dirty="0"/>
              <a:t>laboral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866" y="973564"/>
            <a:ext cx="44938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/>
              <a:t>Competencias</a:t>
            </a:r>
            <a:r>
              <a:rPr sz="2000" spc="-25" dirty="0"/>
              <a:t> </a:t>
            </a:r>
            <a:r>
              <a:rPr sz="2000" spc="-5" dirty="0"/>
              <a:t>del</a:t>
            </a:r>
            <a:r>
              <a:rPr sz="2000" spc="-25" dirty="0"/>
              <a:t> </a:t>
            </a:r>
            <a:r>
              <a:rPr sz="2000" spc="-5" dirty="0"/>
              <a:t>científico</a:t>
            </a:r>
            <a:r>
              <a:rPr sz="2000" spc="-20" dirty="0"/>
              <a:t> </a:t>
            </a:r>
            <a:r>
              <a:rPr sz="2000" spc="-5" dirty="0"/>
              <a:t>de</a:t>
            </a:r>
            <a:r>
              <a:rPr sz="2000" spc="-25" dirty="0"/>
              <a:t> </a:t>
            </a:r>
            <a:r>
              <a:rPr sz="2000" spc="-5" dirty="0"/>
              <a:t>datos</a:t>
            </a:r>
            <a:endParaRPr sz="2000"/>
          </a:p>
        </p:txBody>
      </p:sp>
      <p:grpSp>
        <p:nvGrpSpPr>
          <p:cNvPr id="3" name="object 3"/>
          <p:cNvGrpSpPr/>
          <p:nvPr/>
        </p:nvGrpSpPr>
        <p:grpSpPr>
          <a:xfrm>
            <a:off x="2143125" y="1172514"/>
            <a:ext cx="4693920" cy="3345179"/>
            <a:chOff x="2141675" y="1642724"/>
            <a:chExt cx="4693920" cy="33451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1200" y="1652249"/>
              <a:ext cx="4674449" cy="332599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41675" y="1642724"/>
              <a:ext cx="4693920" cy="3345179"/>
            </a:xfrm>
            <a:custGeom>
              <a:avLst/>
              <a:gdLst/>
              <a:ahLst/>
              <a:cxnLst/>
              <a:rect l="l" t="t" r="r" b="b"/>
              <a:pathLst>
                <a:path w="4693920" h="3345179">
                  <a:moveTo>
                    <a:pt x="0" y="0"/>
                  </a:moveTo>
                  <a:lnTo>
                    <a:pt x="4693499" y="0"/>
                  </a:lnTo>
                  <a:lnTo>
                    <a:pt x="4693499" y="3345048"/>
                  </a:lnTo>
                  <a:lnTo>
                    <a:pt x="0" y="334504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8925" y="2095074"/>
              <a:ext cx="374799" cy="3472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9275" y="2571737"/>
              <a:ext cx="374799" cy="3472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0700" y="3637250"/>
              <a:ext cx="374799" cy="3472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5125" y="4363800"/>
              <a:ext cx="374799" cy="3472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5350" y="4054737"/>
              <a:ext cx="374799" cy="34727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150" y="859156"/>
            <a:ext cx="48788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</a:rPr>
              <a:t>Paso</a:t>
            </a:r>
            <a:r>
              <a:rPr lang="es-ES" spc="-5" dirty="0">
                <a:solidFill>
                  <a:schemeClr val="tx1"/>
                </a:solidFill>
              </a:rPr>
              <a:t> 1</a:t>
            </a:r>
            <a:r>
              <a:rPr spc="-5" dirty="0">
                <a:solidFill>
                  <a:schemeClr val="tx1"/>
                </a:solidFill>
              </a:rPr>
              <a:t>:</a:t>
            </a:r>
            <a:r>
              <a:rPr lang="es-ES" spc="-5" dirty="0">
                <a:solidFill>
                  <a:schemeClr val="tx1"/>
                </a:solidFill>
              </a:rPr>
              <a:t> </a:t>
            </a:r>
            <a:r>
              <a:rPr lang="es-ES" b="0" spc="-5" dirty="0">
                <a:solidFill>
                  <a:schemeClr val="tx1"/>
                </a:solidFill>
              </a:rPr>
              <a:t>Identificación del problema</a:t>
            </a:r>
            <a:endParaRPr b="0" spc="-5" dirty="0">
              <a:solidFill>
                <a:schemeClr val="tx1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1599" y="1770450"/>
            <a:ext cx="2964204" cy="218132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61952" y="4017688"/>
            <a:ext cx="91484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Problem</a:t>
            </a:r>
            <a:r>
              <a:rPr lang="es-ES" sz="1400" b="1" spc="-5" dirty="0">
                <a:latin typeface="Arial"/>
                <a:cs typeface="Arial"/>
              </a:rPr>
              <a:t>a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57953" y="2031344"/>
            <a:ext cx="16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 rot="11040000">
            <a:off x="3160128" y="2652785"/>
            <a:ext cx="26977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59338" y="2650695"/>
            <a:ext cx="372110" cy="382905"/>
            <a:chOff x="2359338" y="2650695"/>
            <a:chExt cx="372110" cy="382905"/>
          </a:xfrm>
        </p:grpSpPr>
        <p:sp>
          <p:nvSpPr>
            <p:cNvPr id="9" name="object 9"/>
            <p:cNvSpPr/>
            <p:nvPr/>
          </p:nvSpPr>
          <p:spPr>
            <a:xfrm>
              <a:off x="2364101" y="2655458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5" h="373380">
                  <a:moveTo>
                    <a:pt x="181049" y="372899"/>
                  </a:moveTo>
                  <a:lnTo>
                    <a:pt x="181049" y="279674"/>
                  </a:lnTo>
                  <a:lnTo>
                    <a:pt x="0" y="279674"/>
                  </a:lnTo>
                  <a:lnTo>
                    <a:pt x="0" y="93224"/>
                  </a:lnTo>
                  <a:lnTo>
                    <a:pt x="181049" y="93224"/>
                  </a:lnTo>
                  <a:lnTo>
                    <a:pt x="181049" y="0"/>
                  </a:lnTo>
                  <a:lnTo>
                    <a:pt x="362099" y="186449"/>
                  </a:lnTo>
                  <a:lnTo>
                    <a:pt x="181049" y="3728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64101" y="2655458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5" h="373380">
                  <a:moveTo>
                    <a:pt x="0" y="93224"/>
                  </a:moveTo>
                  <a:lnTo>
                    <a:pt x="181049" y="93224"/>
                  </a:lnTo>
                  <a:lnTo>
                    <a:pt x="181049" y="0"/>
                  </a:lnTo>
                  <a:lnTo>
                    <a:pt x="362099" y="186449"/>
                  </a:lnTo>
                  <a:lnTo>
                    <a:pt x="181049" y="372899"/>
                  </a:lnTo>
                  <a:lnTo>
                    <a:pt x="181049" y="279674"/>
                  </a:lnTo>
                  <a:lnTo>
                    <a:pt x="0" y="279674"/>
                  </a:lnTo>
                  <a:lnTo>
                    <a:pt x="0" y="932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88042" y="2020858"/>
            <a:ext cx="2313217" cy="116021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640100" y="3500195"/>
            <a:ext cx="15259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-Industria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-Gestión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Operaciones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48788" y="2768970"/>
            <a:ext cx="372110" cy="382905"/>
            <a:chOff x="6148788" y="2768970"/>
            <a:chExt cx="372110" cy="382905"/>
          </a:xfrm>
        </p:grpSpPr>
        <p:sp>
          <p:nvSpPr>
            <p:cNvPr id="14" name="object 14"/>
            <p:cNvSpPr/>
            <p:nvPr/>
          </p:nvSpPr>
          <p:spPr>
            <a:xfrm>
              <a:off x="6153551" y="2773733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4" h="373380">
                  <a:moveTo>
                    <a:pt x="181049" y="372899"/>
                  </a:moveTo>
                  <a:lnTo>
                    <a:pt x="0" y="186449"/>
                  </a:lnTo>
                  <a:lnTo>
                    <a:pt x="181049" y="0"/>
                  </a:lnTo>
                  <a:lnTo>
                    <a:pt x="181049" y="93224"/>
                  </a:lnTo>
                  <a:lnTo>
                    <a:pt x="362099" y="93224"/>
                  </a:lnTo>
                  <a:lnTo>
                    <a:pt x="362099" y="279674"/>
                  </a:lnTo>
                  <a:lnTo>
                    <a:pt x="181049" y="279674"/>
                  </a:lnTo>
                  <a:lnTo>
                    <a:pt x="181049" y="3728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53551" y="2773733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4" h="373380">
                  <a:moveTo>
                    <a:pt x="362099" y="279674"/>
                  </a:moveTo>
                  <a:lnTo>
                    <a:pt x="181049" y="279674"/>
                  </a:lnTo>
                  <a:lnTo>
                    <a:pt x="181049" y="372899"/>
                  </a:lnTo>
                  <a:lnTo>
                    <a:pt x="0" y="186449"/>
                  </a:lnTo>
                  <a:lnTo>
                    <a:pt x="181049" y="0"/>
                  </a:lnTo>
                  <a:lnTo>
                    <a:pt x="181049" y="93224"/>
                  </a:lnTo>
                  <a:lnTo>
                    <a:pt x="362099" y="93224"/>
                  </a:lnTo>
                  <a:lnTo>
                    <a:pt x="362099" y="2796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175" y="2016573"/>
            <a:ext cx="2078875" cy="13848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91275" y="3623345"/>
            <a:ext cx="2078874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-Academia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b="1" dirty="0">
                <a:latin typeface="Arial"/>
                <a:cs typeface="Arial"/>
              </a:rPr>
              <a:t>-</a:t>
            </a:r>
            <a:r>
              <a:rPr lang="es-ES" sz="1000" b="1" dirty="0">
                <a:latin typeface="Arial"/>
                <a:cs typeface="Arial"/>
              </a:rPr>
              <a:t>Centros de </a:t>
            </a:r>
            <a:r>
              <a:rPr sz="1000" b="1" dirty="0" err="1">
                <a:latin typeface="Arial"/>
                <a:cs typeface="Arial"/>
              </a:rPr>
              <a:t>Investigación</a:t>
            </a:r>
            <a:endParaRPr lang="es-ES" sz="100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CL" sz="1000" b="1" dirty="0">
                <a:latin typeface="Arial"/>
                <a:cs typeface="Arial"/>
              </a:rPr>
              <a:t>-Entidades gubernamentales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9399"/>
            <a:ext cx="8995410" cy="732155"/>
          </a:xfrm>
          <a:custGeom>
            <a:avLst/>
            <a:gdLst/>
            <a:ahLst/>
            <a:cxnLst/>
            <a:rect l="l" t="t" r="r" b="b"/>
            <a:pathLst>
              <a:path w="8995410" h="732155">
                <a:moveTo>
                  <a:pt x="0" y="0"/>
                </a:moveTo>
                <a:lnTo>
                  <a:pt x="8994899" y="0"/>
                </a:lnTo>
                <a:lnTo>
                  <a:pt x="89948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150" y="859156"/>
            <a:ext cx="51836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</a:rPr>
              <a:t>Paso</a:t>
            </a:r>
            <a:r>
              <a:rPr lang="es-ES" spc="-5" dirty="0">
                <a:solidFill>
                  <a:schemeClr val="tx1"/>
                </a:solidFill>
              </a:rPr>
              <a:t> 2</a:t>
            </a:r>
            <a:r>
              <a:rPr spc="-5" dirty="0">
                <a:solidFill>
                  <a:schemeClr val="tx1"/>
                </a:solidFill>
              </a:rPr>
              <a:t>:</a:t>
            </a:r>
            <a:r>
              <a:rPr lang="es-ES" spc="-5" dirty="0">
                <a:solidFill>
                  <a:schemeClr val="tx1"/>
                </a:solidFill>
              </a:rPr>
              <a:t> </a:t>
            </a:r>
            <a:r>
              <a:rPr lang="es-ES" b="0" spc="-5" dirty="0">
                <a:solidFill>
                  <a:schemeClr val="tx1"/>
                </a:solidFill>
              </a:rPr>
              <a:t>Recolección de los datos</a:t>
            </a:r>
            <a:endParaRPr spc="-5" dirty="0">
              <a:solidFill>
                <a:schemeClr val="tx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21274" y="1925971"/>
            <a:ext cx="380365" cy="354965"/>
            <a:chOff x="2708069" y="1872453"/>
            <a:chExt cx="380365" cy="354965"/>
          </a:xfrm>
        </p:grpSpPr>
        <p:sp>
          <p:nvSpPr>
            <p:cNvPr id="5" name="object 5"/>
            <p:cNvSpPr/>
            <p:nvPr/>
          </p:nvSpPr>
          <p:spPr>
            <a:xfrm>
              <a:off x="2712831" y="1877216"/>
              <a:ext cx="370840" cy="345440"/>
            </a:xfrm>
            <a:custGeom>
              <a:avLst/>
              <a:gdLst/>
              <a:ahLst/>
              <a:cxnLst/>
              <a:rect l="l" t="t" r="r" b="b"/>
              <a:pathLst>
                <a:path w="370839" h="345439">
                  <a:moveTo>
                    <a:pt x="132149" y="344999"/>
                  </a:moveTo>
                  <a:lnTo>
                    <a:pt x="167549" y="258749"/>
                  </a:lnTo>
                  <a:lnTo>
                    <a:pt x="0" y="190049"/>
                  </a:lnTo>
                  <a:lnTo>
                    <a:pt x="70799" y="17549"/>
                  </a:lnTo>
                  <a:lnTo>
                    <a:pt x="238349" y="86249"/>
                  </a:lnTo>
                  <a:lnTo>
                    <a:pt x="273749" y="0"/>
                  </a:lnTo>
                  <a:lnTo>
                    <a:pt x="370499" y="241199"/>
                  </a:lnTo>
                  <a:lnTo>
                    <a:pt x="132149" y="3449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12831" y="1877216"/>
              <a:ext cx="370840" cy="345440"/>
            </a:xfrm>
            <a:custGeom>
              <a:avLst/>
              <a:gdLst/>
              <a:ahLst/>
              <a:cxnLst/>
              <a:rect l="l" t="t" r="r" b="b"/>
              <a:pathLst>
                <a:path w="370839" h="345439">
                  <a:moveTo>
                    <a:pt x="70799" y="17549"/>
                  </a:moveTo>
                  <a:lnTo>
                    <a:pt x="238349" y="86249"/>
                  </a:lnTo>
                  <a:lnTo>
                    <a:pt x="273749" y="0"/>
                  </a:lnTo>
                  <a:lnTo>
                    <a:pt x="370499" y="241199"/>
                  </a:lnTo>
                  <a:lnTo>
                    <a:pt x="132149" y="344999"/>
                  </a:lnTo>
                  <a:lnTo>
                    <a:pt x="167549" y="258749"/>
                  </a:lnTo>
                  <a:lnTo>
                    <a:pt x="0" y="190049"/>
                  </a:lnTo>
                  <a:lnTo>
                    <a:pt x="70799" y="175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004810" y="1341024"/>
            <a:ext cx="382905" cy="363220"/>
            <a:chOff x="5986690" y="1868401"/>
            <a:chExt cx="382905" cy="363220"/>
          </a:xfrm>
        </p:grpSpPr>
        <p:sp>
          <p:nvSpPr>
            <p:cNvPr id="8" name="object 8"/>
            <p:cNvSpPr/>
            <p:nvPr/>
          </p:nvSpPr>
          <p:spPr>
            <a:xfrm>
              <a:off x="5991452" y="1873163"/>
              <a:ext cx="373380" cy="353695"/>
            </a:xfrm>
            <a:custGeom>
              <a:avLst/>
              <a:gdLst/>
              <a:ahLst/>
              <a:cxnLst/>
              <a:rect l="l" t="t" r="r" b="b"/>
              <a:pathLst>
                <a:path w="373379" h="353694">
                  <a:moveTo>
                    <a:pt x="231449" y="353099"/>
                  </a:moveTo>
                  <a:lnTo>
                    <a:pt x="0" y="234899"/>
                  </a:lnTo>
                  <a:lnTo>
                    <a:pt x="111449" y="0"/>
                  </a:lnTo>
                  <a:lnTo>
                    <a:pt x="141449" y="88274"/>
                  </a:lnTo>
                  <a:lnTo>
                    <a:pt x="312899" y="29924"/>
                  </a:lnTo>
                  <a:lnTo>
                    <a:pt x="372899" y="206474"/>
                  </a:lnTo>
                  <a:lnTo>
                    <a:pt x="201449" y="264824"/>
                  </a:lnTo>
                  <a:lnTo>
                    <a:pt x="231449" y="3530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1452" y="1873163"/>
              <a:ext cx="373380" cy="353695"/>
            </a:xfrm>
            <a:custGeom>
              <a:avLst/>
              <a:gdLst/>
              <a:ahLst/>
              <a:cxnLst/>
              <a:rect l="l" t="t" r="r" b="b"/>
              <a:pathLst>
                <a:path w="373379" h="353694">
                  <a:moveTo>
                    <a:pt x="372899" y="206474"/>
                  </a:moveTo>
                  <a:lnTo>
                    <a:pt x="201449" y="264824"/>
                  </a:lnTo>
                  <a:lnTo>
                    <a:pt x="231449" y="353099"/>
                  </a:lnTo>
                  <a:lnTo>
                    <a:pt x="0" y="234899"/>
                  </a:lnTo>
                  <a:lnTo>
                    <a:pt x="111449" y="0"/>
                  </a:lnTo>
                  <a:lnTo>
                    <a:pt x="141449" y="88274"/>
                  </a:lnTo>
                  <a:lnTo>
                    <a:pt x="312899" y="29924"/>
                  </a:lnTo>
                  <a:lnTo>
                    <a:pt x="372899" y="2064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558336" y="2249952"/>
            <a:ext cx="7581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Formularios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2780" y="1227627"/>
            <a:ext cx="1696649" cy="27164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575" y="1474167"/>
            <a:ext cx="548699" cy="7544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8154" y="2594987"/>
            <a:ext cx="1275874" cy="62405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360365" y="3219037"/>
            <a:ext cx="872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Cuestionarios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672733" y="2788298"/>
            <a:ext cx="372110" cy="382905"/>
            <a:chOff x="2622723" y="2768898"/>
            <a:chExt cx="372110" cy="382905"/>
          </a:xfrm>
        </p:grpSpPr>
        <p:sp>
          <p:nvSpPr>
            <p:cNvPr id="16" name="object 16"/>
            <p:cNvSpPr/>
            <p:nvPr/>
          </p:nvSpPr>
          <p:spPr>
            <a:xfrm>
              <a:off x="2627486" y="2773660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5" h="373380">
                  <a:moveTo>
                    <a:pt x="181049" y="372899"/>
                  </a:moveTo>
                  <a:lnTo>
                    <a:pt x="181049" y="279674"/>
                  </a:lnTo>
                  <a:lnTo>
                    <a:pt x="0" y="279824"/>
                  </a:lnTo>
                  <a:lnTo>
                    <a:pt x="0" y="93374"/>
                  </a:lnTo>
                  <a:lnTo>
                    <a:pt x="181049" y="93224"/>
                  </a:lnTo>
                  <a:lnTo>
                    <a:pt x="181049" y="0"/>
                  </a:lnTo>
                  <a:lnTo>
                    <a:pt x="362099" y="186299"/>
                  </a:lnTo>
                  <a:lnTo>
                    <a:pt x="181049" y="3728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627486" y="2773660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5" h="373380">
                  <a:moveTo>
                    <a:pt x="0" y="93374"/>
                  </a:moveTo>
                  <a:lnTo>
                    <a:pt x="181049" y="93224"/>
                  </a:lnTo>
                  <a:lnTo>
                    <a:pt x="181049" y="0"/>
                  </a:lnTo>
                  <a:lnTo>
                    <a:pt x="362099" y="186299"/>
                  </a:lnTo>
                  <a:lnTo>
                    <a:pt x="181049" y="372899"/>
                  </a:lnTo>
                  <a:lnTo>
                    <a:pt x="181049" y="279674"/>
                  </a:lnTo>
                  <a:lnTo>
                    <a:pt x="0" y="279824"/>
                  </a:lnTo>
                  <a:lnTo>
                    <a:pt x="0" y="933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8276" y="3681300"/>
            <a:ext cx="622874" cy="66845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545025" y="4392470"/>
            <a:ext cx="9563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Bases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533150" y="3763831"/>
            <a:ext cx="371475" cy="342265"/>
            <a:chOff x="2533150" y="3763831"/>
            <a:chExt cx="371475" cy="342265"/>
          </a:xfrm>
        </p:grpSpPr>
        <p:sp>
          <p:nvSpPr>
            <p:cNvPr id="21" name="object 21"/>
            <p:cNvSpPr/>
            <p:nvPr/>
          </p:nvSpPr>
          <p:spPr>
            <a:xfrm>
              <a:off x="2537912" y="3768594"/>
              <a:ext cx="361950" cy="332740"/>
            </a:xfrm>
            <a:custGeom>
              <a:avLst/>
              <a:gdLst/>
              <a:ahLst/>
              <a:cxnLst/>
              <a:rect l="l" t="t" r="r" b="b"/>
              <a:pathLst>
                <a:path w="361950" h="332739">
                  <a:moveTo>
                    <a:pt x="89699" y="332549"/>
                  </a:moveTo>
                  <a:lnTo>
                    <a:pt x="0" y="169049"/>
                  </a:lnTo>
                  <a:lnTo>
                    <a:pt x="158549" y="81749"/>
                  </a:lnTo>
                  <a:lnTo>
                    <a:pt x="113699" y="0"/>
                  </a:lnTo>
                  <a:lnTo>
                    <a:pt x="361949" y="76199"/>
                  </a:lnTo>
                  <a:lnTo>
                    <a:pt x="293099" y="326999"/>
                  </a:lnTo>
                  <a:lnTo>
                    <a:pt x="248249" y="245249"/>
                  </a:lnTo>
                  <a:lnTo>
                    <a:pt x="89699" y="33254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537912" y="3768594"/>
              <a:ext cx="361950" cy="332740"/>
            </a:xfrm>
            <a:custGeom>
              <a:avLst/>
              <a:gdLst/>
              <a:ahLst/>
              <a:cxnLst/>
              <a:rect l="l" t="t" r="r" b="b"/>
              <a:pathLst>
                <a:path w="361950" h="332739">
                  <a:moveTo>
                    <a:pt x="0" y="169049"/>
                  </a:moveTo>
                  <a:lnTo>
                    <a:pt x="158549" y="81749"/>
                  </a:lnTo>
                  <a:lnTo>
                    <a:pt x="113699" y="0"/>
                  </a:lnTo>
                  <a:lnTo>
                    <a:pt x="361949" y="76199"/>
                  </a:lnTo>
                  <a:lnTo>
                    <a:pt x="293099" y="326999"/>
                  </a:lnTo>
                  <a:lnTo>
                    <a:pt x="248249" y="245249"/>
                  </a:lnTo>
                  <a:lnTo>
                    <a:pt x="89699" y="332549"/>
                  </a:lnTo>
                  <a:lnTo>
                    <a:pt x="0" y="169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91248" y="876578"/>
            <a:ext cx="1817724" cy="899124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109902" y="1837071"/>
            <a:ext cx="7804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Dispositivos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61059" y="2308489"/>
            <a:ext cx="1583250" cy="1055500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6052891" y="2602101"/>
            <a:ext cx="372110" cy="382905"/>
            <a:chOff x="6032422" y="3066439"/>
            <a:chExt cx="372110" cy="382905"/>
          </a:xfrm>
        </p:grpSpPr>
        <p:sp>
          <p:nvSpPr>
            <p:cNvPr id="27" name="object 27"/>
            <p:cNvSpPr/>
            <p:nvPr/>
          </p:nvSpPr>
          <p:spPr>
            <a:xfrm>
              <a:off x="6037185" y="3071201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5" h="373379">
                  <a:moveTo>
                    <a:pt x="181049" y="372899"/>
                  </a:moveTo>
                  <a:lnTo>
                    <a:pt x="0" y="186599"/>
                  </a:lnTo>
                  <a:lnTo>
                    <a:pt x="181049" y="0"/>
                  </a:lnTo>
                  <a:lnTo>
                    <a:pt x="181049" y="93224"/>
                  </a:lnTo>
                  <a:lnTo>
                    <a:pt x="362099" y="93074"/>
                  </a:lnTo>
                  <a:lnTo>
                    <a:pt x="362099" y="279524"/>
                  </a:lnTo>
                  <a:lnTo>
                    <a:pt x="181049" y="279674"/>
                  </a:lnTo>
                  <a:lnTo>
                    <a:pt x="181049" y="3728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37185" y="3071201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5" h="373379">
                  <a:moveTo>
                    <a:pt x="362099" y="279524"/>
                  </a:moveTo>
                  <a:lnTo>
                    <a:pt x="181049" y="279674"/>
                  </a:lnTo>
                  <a:lnTo>
                    <a:pt x="181049" y="372899"/>
                  </a:lnTo>
                  <a:lnTo>
                    <a:pt x="0" y="186599"/>
                  </a:lnTo>
                  <a:lnTo>
                    <a:pt x="181049" y="0"/>
                  </a:lnTo>
                  <a:lnTo>
                    <a:pt x="181049" y="93224"/>
                  </a:lnTo>
                  <a:lnTo>
                    <a:pt x="362099" y="93074"/>
                  </a:lnTo>
                  <a:lnTo>
                    <a:pt x="362099" y="27952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98725" y="4031506"/>
            <a:ext cx="1350599" cy="981443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5862395" y="3834867"/>
            <a:ext cx="382270" cy="361315"/>
            <a:chOff x="5824396" y="4160790"/>
            <a:chExt cx="382270" cy="361315"/>
          </a:xfrm>
        </p:grpSpPr>
        <p:sp>
          <p:nvSpPr>
            <p:cNvPr id="31" name="object 31"/>
            <p:cNvSpPr/>
            <p:nvPr/>
          </p:nvSpPr>
          <p:spPr>
            <a:xfrm>
              <a:off x="5829158" y="4165553"/>
              <a:ext cx="372745" cy="351790"/>
            </a:xfrm>
            <a:custGeom>
              <a:avLst/>
              <a:gdLst/>
              <a:ahLst/>
              <a:cxnLst/>
              <a:rect l="l" t="t" r="r" b="b"/>
              <a:pathLst>
                <a:path w="372745" h="351789">
                  <a:moveTo>
                    <a:pt x="108899" y="351599"/>
                  </a:moveTo>
                  <a:lnTo>
                    <a:pt x="0" y="115799"/>
                  </a:lnTo>
                  <a:lnTo>
                    <a:pt x="232799" y="0"/>
                  </a:lnTo>
                  <a:lnTo>
                    <a:pt x="201824" y="87899"/>
                  </a:lnTo>
                  <a:lnTo>
                    <a:pt x="372674" y="147899"/>
                  </a:lnTo>
                  <a:lnTo>
                    <a:pt x="310724" y="323699"/>
                  </a:lnTo>
                  <a:lnTo>
                    <a:pt x="139874" y="263699"/>
                  </a:lnTo>
                  <a:lnTo>
                    <a:pt x="108899" y="3515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29158" y="4165553"/>
              <a:ext cx="372745" cy="351790"/>
            </a:xfrm>
            <a:custGeom>
              <a:avLst/>
              <a:gdLst/>
              <a:ahLst/>
              <a:cxnLst/>
              <a:rect l="l" t="t" r="r" b="b"/>
              <a:pathLst>
                <a:path w="372745" h="351789">
                  <a:moveTo>
                    <a:pt x="310724" y="323699"/>
                  </a:moveTo>
                  <a:lnTo>
                    <a:pt x="139874" y="263699"/>
                  </a:lnTo>
                  <a:lnTo>
                    <a:pt x="108899" y="351599"/>
                  </a:lnTo>
                  <a:lnTo>
                    <a:pt x="0" y="115799"/>
                  </a:lnTo>
                  <a:lnTo>
                    <a:pt x="232799" y="0"/>
                  </a:lnTo>
                  <a:lnTo>
                    <a:pt x="201824" y="87899"/>
                  </a:lnTo>
                  <a:lnTo>
                    <a:pt x="372674" y="147899"/>
                  </a:lnTo>
                  <a:lnTo>
                    <a:pt x="310724" y="3236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085284" y="3428366"/>
            <a:ext cx="11099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Papers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y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patentes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34" name="object 34"/>
          <p:cNvSpPr txBox="1"/>
          <p:nvPr/>
        </p:nvSpPr>
        <p:spPr>
          <a:xfrm>
            <a:off x="7788275" y="4392470"/>
            <a:ext cx="5962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Sensores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9399"/>
            <a:ext cx="8995410" cy="732155"/>
          </a:xfrm>
          <a:custGeom>
            <a:avLst/>
            <a:gdLst/>
            <a:ahLst/>
            <a:cxnLst/>
            <a:rect l="l" t="t" r="r" b="b"/>
            <a:pathLst>
              <a:path w="8995410" h="732155">
                <a:moveTo>
                  <a:pt x="0" y="0"/>
                </a:moveTo>
                <a:lnTo>
                  <a:pt x="8994899" y="0"/>
                </a:lnTo>
                <a:lnTo>
                  <a:pt x="89948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150" y="859156"/>
            <a:ext cx="313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</a:rPr>
              <a:t>Paso</a:t>
            </a:r>
            <a:r>
              <a:rPr lang="es-ES" spc="-5" dirty="0">
                <a:solidFill>
                  <a:schemeClr val="tx1"/>
                </a:solidFill>
              </a:rPr>
              <a:t> 3</a:t>
            </a:r>
            <a:r>
              <a:rPr spc="-5" dirty="0">
                <a:solidFill>
                  <a:schemeClr val="tx1"/>
                </a:solidFill>
              </a:rPr>
              <a:t>:</a:t>
            </a:r>
            <a:r>
              <a:rPr lang="es-ES" spc="-5" dirty="0">
                <a:solidFill>
                  <a:schemeClr val="tx1"/>
                </a:solidFill>
              </a:rPr>
              <a:t> </a:t>
            </a:r>
            <a:r>
              <a:rPr lang="es-ES" b="0" spc="-5" dirty="0">
                <a:solidFill>
                  <a:schemeClr val="tx1"/>
                </a:solidFill>
              </a:rPr>
              <a:t>Limpieza de los datos</a:t>
            </a:r>
            <a:endParaRPr spc="-5" dirty="0">
              <a:solidFill>
                <a:schemeClr val="tx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30437" y="2170533"/>
            <a:ext cx="382270" cy="378460"/>
            <a:chOff x="2530437" y="2170533"/>
            <a:chExt cx="382270" cy="378460"/>
          </a:xfrm>
        </p:grpSpPr>
        <p:sp>
          <p:nvSpPr>
            <p:cNvPr id="5" name="object 5"/>
            <p:cNvSpPr/>
            <p:nvPr/>
          </p:nvSpPr>
          <p:spPr>
            <a:xfrm>
              <a:off x="2535199" y="2175295"/>
              <a:ext cx="372745" cy="368935"/>
            </a:xfrm>
            <a:custGeom>
              <a:avLst/>
              <a:gdLst/>
              <a:ahLst/>
              <a:cxnLst/>
              <a:rect l="l" t="t" r="r" b="b"/>
              <a:pathLst>
                <a:path w="372744" h="368935">
                  <a:moveTo>
                    <a:pt x="149999" y="368399"/>
                  </a:moveTo>
                  <a:lnTo>
                    <a:pt x="0" y="156149"/>
                  </a:lnTo>
                  <a:lnTo>
                    <a:pt x="207899" y="0"/>
                  </a:lnTo>
                  <a:lnTo>
                    <a:pt x="193424" y="92099"/>
                  </a:lnTo>
                  <a:lnTo>
                    <a:pt x="372374" y="120149"/>
                  </a:lnTo>
                  <a:lnTo>
                    <a:pt x="343424" y="304349"/>
                  </a:lnTo>
                  <a:lnTo>
                    <a:pt x="164474" y="276299"/>
                  </a:lnTo>
                  <a:lnTo>
                    <a:pt x="149999" y="3683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5199" y="2175295"/>
              <a:ext cx="372745" cy="368935"/>
            </a:xfrm>
            <a:custGeom>
              <a:avLst/>
              <a:gdLst/>
              <a:ahLst/>
              <a:cxnLst/>
              <a:rect l="l" t="t" r="r" b="b"/>
              <a:pathLst>
                <a:path w="372744" h="368935">
                  <a:moveTo>
                    <a:pt x="343424" y="304349"/>
                  </a:moveTo>
                  <a:lnTo>
                    <a:pt x="164474" y="276299"/>
                  </a:lnTo>
                  <a:lnTo>
                    <a:pt x="149999" y="368399"/>
                  </a:lnTo>
                  <a:lnTo>
                    <a:pt x="0" y="156149"/>
                  </a:lnTo>
                  <a:lnTo>
                    <a:pt x="207899" y="0"/>
                  </a:lnTo>
                  <a:lnTo>
                    <a:pt x="193424" y="92099"/>
                  </a:lnTo>
                  <a:lnTo>
                    <a:pt x="372374" y="120149"/>
                  </a:lnTo>
                  <a:lnTo>
                    <a:pt x="343424" y="3043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142594" y="2178041"/>
            <a:ext cx="382905" cy="363220"/>
            <a:chOff x="6142594" y="2178041"/>
            <a:chExt cx="382905" cy="363220"/>
          </a:xfrm>
        </p:grpSpPr>
        <p:sp>
          <p:nvSpPr>
            <p:cNvPr id="8" name="object 8"/>
            <p:cNvSpPr/>
            <p:nvPr/>
          </p:nvSpPr>
          <p:spPr>
            <a:xfrm>
              <a:off x="6147356" y="2182803"/>
              <a:ext cx="373380" cy="353695"/>
            </a:xfrm>
            <a:custGeom>
              <a:avLst/>
              <a:gdLst/>
              <a:ahLst/>
              <a:cxnLst/>
              <a:rect l="l" t="t" r="r" b="b"/>
              <a:pathLst>
                <a:path w="373379" h="353694">
                  <a:moveTo>
                    <a:pt x="260699" y="353399"/>
                  </a:moveTo>
                  <a:lnTo>
                    <a:pt x="230999" y="265049"/>
                  </a:lnTo>
                  <a:lnTo>
                    <a:pt x="59399" y="322799"/>
                  </a:lnTo>
                  <a:lnTo>
                    <a:pt x="0" y="146099"/>
                  </a:lnTo>
                  <a:lnTo>
                    <a:pt x="171599" y="88349"/>
                  </a:lnTo>
                  <a:lnTo>
                    <a:pt x="141899" y="0"/>
                  </a:lnTo>
                  <a:lnTo>
                    <a:pt x="372899" y="118949"/>
                  </a:lnTo>
                  <a:lnTo>
                    <a:pt x="260699" y="3533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47356" y="2182803"/>
              <a:ext cx="373380" cy="353695"/>
            </a:xfrm>
            <a:custGeom>
              <a:avLst/>
              <a:gdLst/>
              <a:ahLst/>
              <a:cxnLst/>
              <a:rect l="l" t="t" r="r" b="b"/>
              <a:pathLst>
                <a:path w="373379" h="353694">
                  <a:moveTo>
                    <a:pt x="0" y="146099"/>
                  </a:moveTo>
                  <a:lnTo>
                    <a:pt x="171599" y="88349"/>
                  </a:lnTo>
                  <a:lnTo>
                    <a:pt x="141899" y="0"/>
                  </a:lnTo>
                  <a:lnTo>
                    <a:pt x="372899" y="118949"/>
                  </a:lnTo>
                  <a:lnTo>
                    <a:pt x="260699" y="353399"/>
                  </a:lnTo>
                  <a:lnTo>
                    <a:pt x="230999" y="265049"/>
                  </a:lnTo>
                  <a:lnTo>
                    <a:pt x="59399" y="322799"/>
                  </a:lnTo>
                  <a:lnTo>
                    <a:pt x="0" y="1460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3150" y="2889945"/>
            <a:ext cx="16186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Cuantificar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datos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faltantes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0975" y="4629245"/>
            <a:ext cx="175196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Remover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datos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no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deseados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00943" y="3661009"/>
            <a:ext cx="377190" cy="347345"/>
            <a:chOff x="2400943" y="3661009"/>
            <a:chExt cx="377190" cy="347345"/>
          </a:xfrm>
        </p:grpSpPr>
        <p:sp>
          <p:nvSpPr>
            <p:cNvPr id="13" name="object 13"/>
            <p:cNvSpPr/>
            <p:nvPr/>
          </p:nvSpPr>
          <p:spPr>
            <a:xfrm>
              <a:off x="2405706" y="3665772"/>
              <a:ext cx="367665" cy="337820"/>
            </a:xfrm>
            <a:custGeom>
              <a:avLst/>
              <a:gdLst/>
              <a:ahLst/>
              <a:cxnLst/>
              <a:rect l="l" t="t" r="r" b="b"/>
              <a:pathLst>
                <a:path w="367664" h="337820">
                  <a:moveTo>
                    <a:pt x="242999" y="337799"/>
                  </a:moveTo>
                  <a:lnTo>
                    <a:pt x="0" y="245849"/>
                  </a:lnTo>
                  <a:lnTo>
                    <a:pt x="84899" y="0"/>
                  </a:lnTo>
                  <a:lnTo>
                    <a:pt x="124424" y="84449"/>
                  </a:lnTo>
                  <a:lnTo>
                    <a:pt x="288374" y="7499"/>
                  </a:lnTo>
                  <a:lnTo>
                    <a:pt x="367424" y="176399"/>
                  </a:lnTo>
                  <a:lnTo>
                    <a:pt x="203474" y="253349"/>
                  </a:lnTo>
                  <a:lnTo>
                    <a:pt x="242999" y="3377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05706" y="3665772"/>
              <a:ext cx="367665" cy="337820"/>
            </a:xfrm>
            <a:custGeom>
              <a:avLst/>
              <a:gdLst/>
              <a:ahLst/>
              <a:cxnLst/>
              <a:rect l="l" t="t" r="r" b="b"/>
              <a:pathLst>
                <a:path w="367664" h="337820">
                  <a:moveTo>
                    <a:pt x="367424" y="176399"/>
                  </a:moveTo>
                  <a:lnTo>
                    <a:pt x="203474" y="253349"/>
                  </a:lnTo>
                  <a:lnTo>
                    <a:pt x="242999" y="337799"/>
                  </a:lnTo>
                  <a:lnTo>
                    <a:pt x="0" y="245849"/>
                  </a:lnTo>
                  <a:lnTo>
                    <a:pt x="84899" y="0"/>
                  </a:lnTo>
                  <a:lnTo>
                    <a:pt x="124424" y="84449"/>
                  </a:lnTo>
                  <a:lnTo>
                    <a:pt x="288374" y="7499"/>
                  </a:lnTo>
                  <a:lnTo>
                    <a:pt x="367424" y="1763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718500" y="2602620"/>
            <a:ext cx="18497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Identificar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(y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remover)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outliers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34601" y="3440258"/>
            <a:ext cx="360680" cy="342900"/>
            <a:chOff x="6034601" y="3440258"/>
            <a:chExt cx="360680" cy="342900"/>
          </a:xfrm>
        </p:grpSpPr>
        <p:sp>
          <p:nvSpPr>
            <p:cNvPr id="17" name="object 17"/>
            <p:cNvSpPr/>
            <p:nvPr/>
          </p:nvSpPr>
          <p:spPr>
            <a:xfrm>
              <a:off x="6039363" y="3445021"/>
              <a:ext cx="351155" cy="333375"/>
            </a:xfrm>
            <a:custGeom>
              <a:avLst/>
              <a:gdLst/>
              <a:ahLst/>
              <a:cxnLst/>
              <a:rect l="l" t="t" r="r" b="b"/>
              <a:pathLst>
                <a:path w="351154" h="333375">
                  <a:moveTo>
                    <a:pt x="95624" y="332924"/>
                  </a:moveTo>
                  <a:lnTo>
                    <a:pt x="148799" y="256349"/>
                  </a:lnTo>
                  <a:lnTo>
                    <a:pt x="0" y="153149"/>
                  </a:lnTo>
                  <a:lnTo>
                    <a:pt x="106349" y="0"/>
                  </a:lnTo>
                  <a:lnTo>
                    <a:pt x="255149" y="103199"/>
                  </a:lnTo>
                  <a:lnTo>
                    <a:pt x="308324" y="26624"/>
                  </a:lnTo>
                  <a:lnTo>
                    <a:pt x="350774" y="282974"/>
                  </a:lnTo>
                  <a:lnTo>
                    <a:pt x="95624" y="332924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39363" y="3445021"/>
              <a:ext cx="351155" cy="333375"/>
            </a:xfrm>
            <a:custGeom>
              <a:avLst/>
              <a:gdLst/>
              <a:ahLst/>
              <a:cxnLst/>
              <a:rect l="l" t="t" r="r" b="b"/>
              <a:pathLst>
                <a:path w="351154" h="333375">
                  <a:moveTo>
                    <a:pt x="106349" y="0"/>
                  </a:moveTo>
                  <a:lnTo>
                    <a:pt x="255149" y="103199"/>
                  </a:lnTo>
                  <a:lnTo>
                    <a:pt x="308324" y="26624"/>
                  </a:lnTo>
                  <a:lnTo>
                    <a:pt x="350774" y="282974"/>
                  </a:lnTo>
                  <a:lnTo>
                    <a:pt x="95624" y="332924"/>
                  </a:lnTo>
                  <a:lnTo>
                    <a:pt x="148799" y="256349"/>
                  </a:lnTo>
                  <a:lnTo>
                    <a:pt x="0" y="153149"/>
                  </a:lnTo>
                  <a:lnTo>
                    <a:pt x="106349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812200" y="4475345"/>
            <a:ext cx="15443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Estructurar/formatea</a:t>
            </a:r>
            <a:r>
              <a:rPr sz="1000" b="1" dirty="0">
                <a:latin typeface="Arial"/>
                <a:cs typeface="Arial"/>
              </a:rPr>
              <a:t>r</a:t>
            </a:r>
            <a:r>
              <a:rPr sz="1000" b="1" spc="-5" dirty="0">
                <a:latin typeface="Arial"/>
                <a:cs typeface="Arial"/>
              </a:rPr>
              <a:t> los  datos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2173" y="2101862"/>
            <a:ext cx="2805949" cy="182386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112" y="1754316"/>
            <a:ext cx="1805339" cy="97187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1200" y="3791124"/>
            <a:ext cx="1023174" cy="8336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23938" y="1567308"/>
            <a:ext cx="1610886" cy="94573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15401" y="3222050"/>
            <a:ext cx="1702249" cy="1877593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1525" y="4766037"/>
            <a:ext cx="1670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 MT"/>
                <a:cs typeface="Arial MT"/>
              </a:rPr>
              <a:t>1</a:t>
            </a:r>
            <a:r>
              <a:rPr lang="es-ES" sz="1000" spc="-5" dirty="0">
                <a:solidFill>
                  <a:srgbClr val="595959"/>
                </a:solidFill>
                <a:latin typeface="Arial MT"/>
                <a:cs typeface="Arial MT"/>
              </a:rPr>
              <a:t>2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0"/>
            <a:ext cx="9153525" cy="1431290"/>
            <a:chOff x="-9525" y="0"/>
            <a:chExt cx="9153525" cy="1431290"/>
          </a:xfrm>
        </p:grpSpPr>
        <p:sp>
          <p:nvSpPr>
            <p:cNvPr id="4" name="object 4"/>
            <p:cNvSpPr/>
            <p:nvPr/>
          </p:nvSpPr>
          <p:spPr>
            <a:xfrm>
              <a:off x="9749" y="0"/>
              <a:ext cx="9134475" cy="689610"/>
            </a:xfrm>
            <a:custGeom>
              <a:avLst/>
              <a:gdLst/>
              <a:ahLst/>
              <a:cxnLst/>
              <a:rect l="l" t="t" r="r" b="b"/>
              <a:pathLst>
                <a:path w="9134475" h="689610">
                  <a:moveTo>
                    <a:pt x="0" y="0"/>
                  </a:moveTo>
                  <a:lnTo>
                    <a:pt x="9134249" y="0"/>
                  </a:lnTo>
                  <a:lnTo>
                    <a:pt x="9134249" y="689399"/>
                  </a:lnTo>
                  <a:lnTo>
                    <a:pt x="0" y="689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30200" y="70349"/>
              <a:ext cx="548699" cy="5487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00" y="41900"/>
              <a:ext cx="2020324" cy="605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89399"/>
              <a:ext cx="8995410" cy="732155"/>
            </a:xfrm>
            <a:custGeom>
              <a:avLst/>
              <a:gdLst/>
              <a:ahLst/>
              <a:cxnLst/>
              <a:rect l="l" t="t" r="r" b="b"/>
              <a:pathLst>
                <a:path w="8995410" h="732155">
                  <a:moveTo>
                    <a:pt x="0" y="0"/>
                  </a:moveTo>
                  <a:lnTo>
                    <a:pt x="8994899" y="0"/>
                  </a:lnTo>
                  <a:lnTo>
                    <a:pt x="8994899" y="731999"/>
                  </a:lnTo>
                  <a:lnTo>
                    <a:pt x="0" y="731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4150" y="859156"/>
            <a:ext cx="53360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</a:rPr>
              <a:t>Paso</a:t>
            </a:r>
            <a:r>
              <a:rPr lang="es-ES" spc="-5" dirty="0">
                <a:solidFill>
                  <a:schemeClr val="tx1"/>
                </a:solidFill>
              </a:rPr>
              <a:t> 4</a:t>
            </a:r>
            <a:r>
              <a:rPr spc="-5" dirty="0">
                <a:solidFill>
                  <a:schemeClr val="tx1"/>
                </a:solidFill>
              </a:rPr>
              <a:t>:</a:t>
            </a:r>
            <a:r>
              <a:rPr lang="es-ES" spc="-5" dirty="0">
                <a:solidFill>
                  <a:schemeClr val="tx1"/>
                </a:solidFill>
              </a:rPr>
              <a:t> </a:t>
            </a:r>
            <a:r>
              <a:rPr lang="es-ES" b="0" spc="-5" dirty="0">
                <a:solidFill>
                  <a:schemeClr val="tx1"/>
                </a:solidFill>
              </a:rPr>
              <a:t>Análisis Exploratorio de Datos (EDA)</a:t>
            </a:r>
            <a:endParaRPr spc="-5" dirty="0">
              <a:solidFill>
                <a:schemeClr val="tx1"/>
              </a:solidFill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6746" y="1841877"/>
            <a:ext cx="381635" cy="379095"/>
            <a:chOff x="2336746" y="1841877"/>
            <a:chExt cx="381635" cy="379095"/>
          </a:xfrm>
        </p:grpSpPr>
        <p:sp>
          <p:nvSpPr>
            <p:cNvPr id="10" name="object 10"/>
            <p:cNvSpPr/>
            <p:nvPr/>
          </p:nvSpPr>
          <p:spPr>
            <a:xfrm>
              <a:off x="2341509" y="1846639"/>
              <a:ext cx="372110" cy="369570"/>
            </a:xfrm>
            <a:custGeom>
              <a:avLst/>
              <a:gdLst/>
              <a:ahLst/>
              <a:cxnLst/>
              <a:rect l="l" t="t" r="r" b="b"/>
              <a:pathLst>
                <a:path w="372110" h="369569">
                  <a:moveTo>
                    <a:pt x="153149" y="369299"/>
                  </a:moveTo>
                  <a:lnTo>
                    <a:pt x="0" y="159149"/>
                  </a:lnTo>
                  <a:lnTo>
                    <a:pt x="205349" y="0"/>
                  </a:lnTo>
                  <a:lnTo>
                    <a:pt x="192299" y="92324"/>
                  </a:lnTo>
                  <a:lnTo>
                    <a:pt x="371549" y="117824"/>
                  </a:lnTo>
                  <a:lnTo>
                    <a:pt x="345449" y="302474"/>
                  </a:lnTo>
                  <a:lnTo>
                    <a:pt x="166199" y="276974"/>
                  </a:lnTo>
                  <a:lnTo>
                    <a:pt x="153149" y="3692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41509" y="1846639"/>
              <a:ext cx="372110" cy="369570"/>
            </a:xfrm>
            <a:custGeom>
              <a:avLst/>
              <a:gdLst/>
              <a:ahLst/>
              <a:cxnLst/>
              <a:rect l="l" t="t" r="r" b="b"/>
              <a:pathLst>
                <a:path w="372110" h="369569">
                  <a:moveTo>
                    <a:pt x="345449" y="302474"/>
                  </a:moveTo>
                  <a:lnTo>
                    <a:pt x="166199" y="276974"/>
                  </a:lnTo>
                  <a:lnTo>
                    <a:pt x="153149" y="369299"/>
                  </a:lnTo>
                  <a:lnTo>
                    <a:pt x="0" y="159149"/>
                  </a:lnTo>
                  <a:lnTo>
                    <a:pt x="205349" y="0"/>
                  </a:lnTo>
                  <a:lnTo>
                    <a:pt x="192299" y="92324"/>
                  </a:lnTo>
                  <a:lnTo>
                    <a:pt x="371549" y="117824"/>
                  </a:lnTo>
                  <a:lnTo>
                    <a:pt x="345449" y="3024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230536" y="1606913"/>
            <a:ext cx="3289935" cy="1741805"/>
            <a:chOff x="3230536" y="1606913"/>
            <a:chExt cx="3289935" cy="1741805"/>
          </a:xfrm>
        </p:grpSpPr>
        <p:sp>
          <p:nvSpPr>
            <p:cNvPr id="13" name="object 13"/>
            <p:cNvSpPr/>
            <p:nvPr/>
          </p:nvSpPr>
          <p:spPr>
            <a:xfrm>
              <a:off x="6153551" y="2773733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4" h="373380">
                  <a:moveTo>
                    <a:pt x="181049" y="372899"/>
                  </a:moveTo>
                  <a:lnTo>
                    <a:pt x="0" y="186449"/>
                  </a:lnTo>
                  <a:lnTo>
                    <a:pt x="181049" y="0"/>
                  </a:lnTo>
                  <a:lnTo>
                    <a:pt x="181049" y="93224"/>
                  </a:lnTo>
                  <a:lnTo>
                    <a:pt x="362099" y="93224"/>
                  </a:lnTo>
                  <a:lnTo>
                    <a:pt x="362099" y="279674"/>
                  </a:lnTo>
                  <a:lnTo>
                    <a:pt x="181049" y="279674"/>
                  </a:lnTo>
                  <a:lnTo>
                    <a:pt x="181049" y="3728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53551" y="2773733"/>
              <a:ext cx="362585" cy="373380"/>
            </a:xfrm>
            <a:custGeom>
              <a:avLst/>
              <a:gdLst/>
              <a:ahLst/>
              <a:cxnLst/>
              <a:rect l="l" t="t" r="r" b="b"/>
              <a:pathLst>
                <a:path w="362584" h="373380">
                  <a:moveTo>
                    <a:pt x="362099" y="279674"/>
                  </a:moveTo>
                  <a:lnTo>
                    <a:pt x="181049" y="279674"/>
                  </a:lnTo>
                  <a:lnTo>
                    <a:pt x="181049" y="372899"/>
                  </a:lnTo>
                  <a:lnTo>
                    <a:pt x="0" y="186449"/>
                  </a:lnTo>
                  <a:lnTo>
                    <a:pt x="181049" y="0"/>
                  </a:lnTo>
                  <a:lnTo>
                    <a:pt x="181049" y="93224"/>
                  </a:lnTo>
                  <a:lnTo>
                    <a:pt x="362099" y="93224"/>
                  </a:lnTo>
                  <a:lnTo>
                    <a:pt x="362099" y="27967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30536" y="1606913"/>
              <a:ext cx="2281798" cy="1741537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0150" y="1490825"/>
            <a:ext cx="1621397" cy="10809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092250" y="2865305"/>
            <a:ext cx="427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Arial"/>
                <a:cs typeface="Arial"/>
              </a:rPr>
              <a:t>EDA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2966" y="1421399"/>
            <a:ext cx="8876665" cy="3114675"/>
            <a:chOff x="232966" y="1421399"/>
            <a:chExt cx="8876665" cy="311467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0150" y="1421399"/>
              <a:ext cx="3009049" cy="20719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655832" y="2073844"/>
              <a:ext cx="374015" cy="356870"/>
            </a:xfrm>
            <a:custGeom>
              <a:avLst/>
              <a:gdLst/>
              <a:ahLst/>
              <a:cxnLst/>
              <a:rect l="l" t="t" r="r" b="b"/>
              <a:pathLst>
                <a:path w="374014" h="356869">
                  <a:moveTo>
                    <a:pt x="145424" y="356399"/>
                  </a:moveTo>
                  <a:lnTo>
                    <a:pt x="172949" y="267299"/>
                  </a:lnTo>
                  <a:lnTo>
                    <a:pt x="0" y="213599"/>
                  </a:lnTo>
                  <a:lnTo>
                    <a:pt x="55049" y="35399"/>
                  </a:lnTo>
                  <a:lnTo>
                    <a:pt x="227999" y="89099"/>
                  </a:lnTo>
                  <a:lnTo>
                    <a:pt x="255524" y="0"/>
                  </a:lnTo>
                  <a:lnTo>
                    <a:pt x="373424" y="231899"/>
                  </a:lnTo>
                  <a:lnTo>
                    <a:pt x="145424" y="3563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55832" y="2073844"/>
              <a:ext cx="374015" cy="356870"/>
            </a:xfrm>
            <a:custGeom>
              <a:avLst/>
              <a:gdLst/>
              <a:ahLst/>
              <a:cxnLst/>
              <a:rect l="l" t="t" r="r" b="b"/>
              <a:pathLst>
                <a:path w="374014" h="356869">
                  <a:moveTo>
                    <a:pt x="55049" y="35399"/>
                  </a:moveTo>
                  <a:lnTo>
                    <a:pt x="227999" y="89099"/>
                  </a:lnTo>
                  <a:lnTo>
                    <a:pt x="255524" y="0"/>
                  </a:lnTo>
                  <a:lnTo>
                    <a:pt x="373424" y="231899"/>
                  </a:lnTo>
                  <a:lnTo>
                    <a:pt x="145424" y="356399"/>
                  </a:lnTo>
                  <a:lnTo>
                    <a:pt x="172949" y="267299"/>
                  </a:lnTo>
                  <a:lnTo>
                    <a:pt x="0" y="213599"/>
                  </a:lnTo>
                  <a:lnTo>
                    <a:pt x="55049" y="353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39207" y="3117074"/>
              <a:ext cx="325755" cy="326390"/>
            </a:xfrm>
            <a:custGeom>
              <a:avLst/>
              <a:gdLst/>
              <a:ahLst/>
              <a:cxnLst/>
              <a:rect l="l" t="t" r="r" b="b"/>
              <a:pathLst>
                <a:path w="325754" h="326389">
                  <a:moveTo>
                    <a:pt x="61874" y="326024"/>
                  </a:moveTo>
                  <a:lnTo>
                    <a:pt x="127799" y="260099"/>
                  </a:lnTo>
                  <a:lnTo>
                    <a:pt x="0" y="131849"/>
                  </a:lnTo>
                  <a:lnTo>
                    <a:pt x="131849" y="0"/>
                  </a:lnTo>
                  <a:lnTo>
                    <a:pt x="259649" y="128249"/>
                  </a:lnTo>
                  <a:lnTo>
                    <a:pt x="325574" y="62324"/>
                  </a:lnTo>
                  <a:lnTo>
                    <a:pt x="321524" y="322424"/>
                  </a:lnTo>
                  <a:lnTo>
                    <a:pt x="61874" y="326024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39207" y="3117074"/>
              <a:ext cx="325755" cy="326390"/>
            </a:xfrm>
            <a:custGeom>
              <a:avLst/>
              <a:gdLst/>
              <a:ahLst/>
              <a:cxnLst/>
              <a:rect l="l" t="t" r="r" b="b"/>
              <a:pathLst>
                <a:path w="325754" h="326389">
                  <a:moveTo>
                    <a:pt x="131849" y="0"/>
                  </a:moveTo>
                  <a:lnTo>
                    <a:pt x="259649" y="128249"/>
                  </a:lnTo>
                  <a:lnTo>
                    <a:pt x="325574" y="62324"/>
                  </a:lnTo>
                  <a:lnTo>
                    <a:pt x="321524" y="322424"/>
                  </a:lnTo>
                  <a:lnTo>
                    <a:pt x="61874" y="326024"/>
                  </a:lnTo>
                  <a:lnTo>
                    <a:pt x="127799" y="260099"/>
                  </a:lnTo>
                  <a:lnTo>
                    <a:pt x="0" y="131849"/>
                  </a:lnTo>
                  <a:lnTo>
                    <a:pt x="131849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01225" y="3620848"/>
              <a:ext cx="1945760" cy="91497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436735" y="3387899"/>
              <a:ext cx="337820" cy="367665"/>
            </a:xfrm>
            <a:custGeom>
              <a:avLst/>
              <a:gdLst/>
              <a:ahLst/>
              <a:cxnLst/>
              <a:rect l="l" t="t" r="r" b="b"/>
              <a:pathLst>
                <a:path w="337820" h="367664">
                  <a:moveTo>
                    <a:pt x="91949" y="367349"/>
                  </a:moveTo>
                  <a:lnTo>
                    <a:pt x="0" y="124499"/>
                  </a:lnTo>
                  <a:lnTo>
                    <a:pt x="84449" y="163949"/>
                  </a:lnTo>
                  <a:lnTo>
                    <a:pt x="161399" y="0"/>
                  </a:lnTo>
                  <a:lnTo>
                    <a:pt x="330299" y="78899"/>
                  </a:lnTo>
                  <a:lnTo>
                    <a:pt x="253349" y="242849"/>
                  </a:lnTo>
                  <a:lnTo>
                    <a:pt x="337799" y="282299"/>
                  </a:lnTo>
                  <a:lnTo>
                    <a:pt x="91949" y="36734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36735" y="3387899"/>
              <a:ext cx="337820" cy="367665"/>
            </a:xfrm>
            <a:custGeom>
              <a:avLst/>
              <a:gdLst/>
              <a:ahLst/>
              <a:cxnLst/>
              <a:rect l="l" t="t" r="r" b="b"/>
              <a:pathLst>
                <a:path w="337820" h="367664">
                  <a:moveTo>
                    <a:pt x="330299" y="78899"/>
                  </a:moveTo>
                  <a:lnTo>
                    <a:pt x="253349" y="242849"/>
                  </a:lnTo>
                  <a:lnTo>
                    <a:pt x="337799" y="282299"/>
                  </a:lnTo>
                  <a:lnTo>
                    <a:pt x="91949" y="367349"/>
                  </a:lnTo>
                  <a:lnTo>
                    <a:pt x="0" y="124499"/>
                  </a:lnTo>
                  <a:lnTo>
                    <a:pt x="84449" y="163949"/>
                  </a:lnTo>
                  <a:lnTo>
                    <a:pt x="161399" y="0"/>
                  </a:lnTo>
                  <a:lnTo>
                    <a:pt x="330299" y="78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966" y="3334775"/>
              <a:ext cx="2292733" cy="117873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707200" y="3189624"/>
              <a:ext cx="263525" cy="254000"/>
            </a:xfrm>
            <a:custGeom>
              <a:avLst/>
              <a:gdLst/>
              <a:ahLst/>
              <a:cxnLst/>
              <a:rect l="l" t="t" r="r" b="b"/>
              <a:pathLst>
                <a:path w="263525" h="254000">
                  <a:moveTo>
                    <a:pt x="263399" y="253499"/>
                  </a:moveTo>
                  <a:lnTo>
                    <a:pt x="0" y="253499"/>
                  </a:lnTo>
                  <a:lnTo>
                    <a:pt x="0" y="0"/>
                  </a:lnTo>
                  <a:lnTo>
                    <a:pt x="263399" y="0"/>
                  </a:lnTo>
                  <a:lnTo>
                    <a:pt x="263399" y="25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07200" y="3189624"/>
              <a:ext cx="263525" cy="254000"/>
            </a:xfrm>
            <a:custGeom>
              <a:avLst/>
              <a:gdLst/>
              <a:ahLst/>
              <a:cxnLst/>
              <a:rect l="l" t="t" r="r" b="b"/>
              <a:pathLst>
                <a:path w="263525" h="254000">
                  <a:moveTo>
                    <a:pt x="0" y="0"/>
                  </a:moveTo>
                  <a:lnTo>
                    <a:pt x="263399" y="0"/>
                  </a:lnTo>
                  <a:lnTo>
                    <a:pt x="263399" y="253499"/>
                  </a:lnTo>
                  <a:lnTo>
                    <a:pt x="0" y="253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51874" y="4075824"/>
              <a:ext cx="362585" cy="162560"/>
            </a:xfrm>
            <a:custGeom>
              <a:avLst/>
              <a:gdLst/>
              <a:ahLst/>
              <a:cxnLst/>
              <a:rect l="l" t="t" r="r" b="b"/>
              <a:pathLst>
                <a:path w="362584" h="162560">
                  <a:moveTo>
                    <a:pt x="362099" y="161999"/>
                  </a:moveTo>
                  <a:lnTo>
                    <a:pt x="0" y="161999"/>
                  </a:lnTo>
                  <a:lnTo>
                    <a:pt x="0" y="0"/>
                  </a:lnTo>
                  <a:lnTo>
                    <a:pt x="362099" y="0"/>
                  </a:lnTo>
                  <a:lnTo>
                    <a:pt x="362099" y="1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51874" y="4075824"/>
              <a:ext cx="362585" cy="162560"/>
            </a:xfrm>
            <a:custGeom>
              <a:avLst/>
              <a:gdLst/>
              <a:ahLst/>
              <a:cxnLst/>
              <a:rect l="l" t="t" r="r" b="b"/>
              <a:pathLst>
                <a:path w="362584" h="162560">
                  <a:moveTo>
                    <a:pt x="0" y="0"/>
                  </a:moveTo>
                  <a:lnTo>
                    <a:pt x="362099" y="0"/>
                  </a:lnTo>
                  <a:lnTo>
                    <a:pt x="362099" y="161999"/>
                  </a:lnTo>
                  <a:lnTo>
                    <a:pt x="0" y="161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94975" y="4132974"/>
              <a:ext cx="362585" cy="125730"/>
            </a:xfrm>
            <a:custGeom>
              <a:avLst/>
              <a:gdLst/>
              <a:ahLst/>
              <a:cxnLst/>
              <a:rect l="l" t="t" r="r" b="b"/>
              <a:pathLst>
                <a:path w="362585" h="125729">
                  <a:moveTo>
                    <a:pt x="362099" y="125699"/>
                  </a:moveTo>
                  <a:lnTo>
                    <a:pt x="0" y="125699"/>
                  </a:lnTo>
                  <a:lnTo>
                    <a:pt x="0" y="0"/>
                  </a:lnTo>
                  <a:lnTo>
                    <a:pt x="362099" y="0"/>
                  </a:lnTo>
                  <a:lnTo>
                    <a:pt x="362099" y="12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894975" y="4132974"/>
              <a:ext cx="362585" cy="125730"/>
            </a:xfrm>
            <a:custGeom>
              <a:avLst/>
              <a:gdLst/>
              <a:ahLst/>
              <a:cxnLst/>
              <a:rect l="l" t="t" r="r" b="b"/>
              <a:pathLst>
                <a:path w="362585" h="125729">
                  <a:moveTo>
                    <a:pt x="0" y="0"/>
                  </a:moveTo>
                  <a:lnTo>
                    <a:pt x="362099" y="0"/>
                  </a:lnTo>
                  <a:lnTo>
                    <a:pt x="362099" y="125699"/>
                  </a:lnTo>
                  <a:lnTo>
                    <a:pt x="0" y="125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2249" y="4132974"/>
              <a:ext cx="362585" cy="125730"/>
            </a:xfrm>
            <a:custGeom>
              <a:avLst/>
              <a:gdLst/>
              <a:ahLst/>
              <a:cxnLst/>
              <a:rect l="l" t="t" r="r" b="b"/>
              <a:pathLst>
                <a:path w="362584" h="125729">
                  <a:moveTo>
                    <a:pt x="362099" y="125699"/>
                  </a:moveTo>
                  <a:lnTo>
                    <a:pt x="0" y="125699"/>
                  </a:lnTo>
                  <a:lnTo>
                    <a:pt x="0" y="0"/>
                  </a:lnTo>
                  <a:lnTo>
                    <a:pt x="362099" y="0"/>
                  </a:lnTo>
                  <a:lnTo>
                    <a:pt x="362099" y="12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2249" y="4132974"/>
              <a:ext cx="362585" cy="125730"/>
            </a:xfrm>
            <a:custGeom>
              <a:avLst/>
              <a:gdLst/>
              <a:ahLst/>
              <a:cxnLst/>
              <a:rect l="l" t="t" r="r" b="b"/>
              <a:pathLst>
                <a:path w="362584" h="125729">
                  <a:moveTo>
                    <a:pt x="0" y="0"/>
                  </a:moveTo>
                  <a:lnTo>
                    <a:pt x="362099" y="0"/>
                  </a:lnTo>
                  <a:lnTo>
                    <a:pt x="362099" y="125699"/>
                  </a:lnTo>
                  <a:lnTo>
                    <a:pt x="0" y="125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44034" y="2962971"/>
              <a:ext cx="354965" cy="333375"/>
            </a:xfrm>
            <a:custGeom>
              <a:avLst/>
              <a:gdLst/>
              <a:ahLst/>
              <a:cxnLst/>
              <a:rect l="l" t="t" r="r" b="b"/>
              <a:pathLst>
                <a:path w="354964" h="333375">
                  <a:moveTo>
                    <a:pt x="253649" y="332924"/>
                  </a:moveTo>
                  <a:lnTo>
                    <a:pt x="0" y="275474"/>
                  </a:lnTo>
                  <a:lnTo>
                    <a:pt x="49949" y="20624"/>
                  </a:lnTo>
                  <a:lnTo>
                    <a:pt x="100874" y="98699"/>
                  </a:lnTo>
                  <a:lnTo>
                    <a:pt x="252674" y="0"/>
                  </a:lnTo>
                  <a:lnTo>
                    <a:pt x="354524" y="156149"/>
                  </a:lnTo>
                  <a:lnTo>
                    <a:pt x="202724" y="254849"/>
                  </a:lnTo>
                  <a:lnTo>
                    <a:pt x="253649" y="332924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44034" y="2962971"/>
              <a:ext cx="354965" cy="333375"/>
            </a:xfrm>
            <a:custGeom>
              <a:avLst/>
              <a:gdLst/>
              <a:ahLst/>
              <a:cxnLst/>
              <a:rect l="l" t="t" r="r" b="b"/>
              <a:pathLst>
                <a:path w="354964" h="333375">
                  <a:moveTo>
                    <a:pt x="354524" y="156149"/>
                  </a:moveTo>
                  <a:lnTo>
                    <a:pt x="202724" y="254849"/>
                  </a:lnTo>
                  <a:lnTo>
                    <a:pt x="253649" y="332924"/>
                  </a:lnTo>
                  <a:lnTo>
                    <a:pt x="0" y="275474"/>
                  </a:lnTo>
                  <a:lnTo>
                    <a:pt x="49949" y="20624"/>
                  </a:lnTo>
                  <a:lnTo>
                    <a:pt x="100874" y="98699"/>
                  </a:lnTo>
                  <a:lnTo>
                    <a:pt x="252674" y="0"/>
                  </a:lnTo>
                  <a:lnTo>
                    <a:pt x="354524" y="1561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16925" y="2614132"/>
            <a:ext cx="16021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Organización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3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los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1575" y="4619157"/>
            <a:ext cx="12814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Análisis</a:t>
            </a:r>
            <a:r>
              <a:rPr sz="1000" b="1" spc="-6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relacionales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618774" y="3582449"/>
            <a:ext cx="2960370" cy="1347470"/>
            <a:chOff x="5618774" y="3582449"/>
            <a:chExt cx="2960370" cy="1347470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8300" y="3619533"/>
              <a:ext cx="2941147" cy="130076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5623537" y="3587212"/>
              <a:ext cx="2950845" cy="1337945"/>
            </a:xfrm>
            <a:custGeom>
              <a:avLst/>
              <a:gdLst/>
              <a:ahLst/>
              <a:cxnLst/>
              <a:rect l="l" t="t" r="r" b="b"/>
              <a:pathLst>
                <a:path w="2950845" h="1337945">
                  <a:moveTo>
                    <a:pt x="0" y="0"/>
                  </a:moveTo>
                  <a:lnTo>
                    <a:pt x="2950672" y="0"/>
                  </a:lnTo>
                  <a:lnTo>
                    <a:pt x="2950672" y="1337849"/>
                  </a:lnTo>
                  <a:lnTo>
                    <a:pt x="0" y="13378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121899" y="4920299"/>
            <a:ext cx="15341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Representación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10449" y="4649545"/>
            <a:ext cx="10521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Test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hipótesis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4125" y="4852712"/>
            <a:ext cx="16700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000" spc="-5" dirty="0">
                <a:solidFill>
                  <a:srgbClr val="595959"/>
                </a:solidFill>
                <a:latin typeface="Arial MT"/>
                <a:cs typeface="Arial MT"/>
              </a:rPr>
              <a:t>13</a:t>
            </a:r>
            <a:endParaRPr sz="1000" dirty="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0"/>
            <a:ext cx="9153525" cy="1431290"/>
            <a:chOff x="-9525" y="0"/>
            <a:chExt cx="9153525" cy="1431290"/>
          </a:xfrm>
        </p:grpSpPr>
        <p:sp>
          <p:nvSpPr>
            <p:cNvPr id="4" name="object 4"/>
            <p:cNvSpPr/>
            <p:nvPr/>
          </p:nvSpPr>
          <p:spPr>
            <a:xfrm>
              <a:off x="9749" y="0"/>
              <a:ext cx="9134475" cy="689610"/>
            </a:xfrm>
            <a:custGeom>
              <a:avLst/>
              <a:gdLst/>
              <a:ahLst/>
              <a:cxnLst/>
              <a:rect l="l" t="t" r="r" b="b"/>
              <a:pathLst>
                <a:path w="9134475" h="689610">
                  <a:moveTo>
                    <a:pt x="0" y="0"/>
                  </a:moveTo>
                  <a:lnTo>
                    <a:pt x="9134249" y="0"/>
                  </a:lnTo>
                  <a:lnTo>
                    <a:pt x="9134249" y="689399"/>
                  </a:lnTo>
                  <a:lnTo>
                    <a:pt x="0" y="6893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30200" y="70349"/>
              <a:ext cx="548699" cy="5487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00" y="41900"/>
              <a:ext cx="2020324" cy="605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689399"/>
              <a:ext cx="8995410" cy="732155"/>
            </a:xfrm>
            <a:custGeom>
              <a:avLst/>
              <a:gdLst/>
              <a:ahLst/>
              <a:cxnLst/>
              <a:rect l="l" t="t" r="r" b="b"/>
              <a:pathLst>
                <a:path w="8995410" h="732155">
                  <a:moveTo>
                    <a:pt x="0" y="0"/>
                  </a:moveTo>
                  <a:lnTo>
                    <a:pt x="8994899" y="0"/>
                  </a:lnTo>
                  <a:lnTo>
                    <a:pt x="8994899" y="731999"/>
                  </a:lnTo>
                  <a:lnTo>
                    <a:pt x="0" y="731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4150" y="859156"/>
            <a:ext cx="3133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chemeClr val="tx1"/>
                </a:solidFill>
              </a:rPr>
              <a:t>Paso</a:t>
            </a:r>
            <a:r>
              <a:rPr lang="es-ES" spc="-5" dirty="0">
                <a:solidFill>
                  <a:schemeClr val="tx1"/>
                </a:solidFill>
              </a:rPr>
              <a:t> 5</a:t>
            </a:r>
            <a:r>
              <a:rPr spc="-5" dirty="0">
                <a:solidFill>
                  <a:schemeClr val="tx1"/>
                </a:solidFill>
              </a:rPr>
              <a:t>:</a:t>
            </a:r>
            <a:r>
              <a:rPr lang="es-ES" spc="-5" dirty="0">
                <a:solidFill>
                  <a:schemeClr val="tx1"/>
                </a:solidFill>
              </a:rPr>
              <a:t> </a:t>
            </a:r>
            <a:r>
              <a:rPr lang="es-ES" b="0" i="1" spc="-5" dirty="0" err="1">
                <a:solidFill>
                  <a:schemeClr val="tx1"/>
                </a:solidFill>
              </a:rPr>
              <a:t>Feature</a:t>
            </a:r>
            <a:r>
              <a:rPr lang="es-ES" b="0" i="1" spc="-5" dirty="0">
                <a:solidFill>
                  <a:schemeClr val="tx1"/>
                </a:solidFill>
              </a:rPr>
              <a:t> </a:t>
            </a:r>
            <a:r>
              <a:rPr lang="es-ES" b="0" i="1" spc="-5" dirty="0" err="1">
                <a:solidFill>
                  <a:schemeClr val="tx1"/>
                </a:solidFill>
              </a:rPr>
              <a:t>engineering</a:t>
            </a:r>
            <a:endParaRPr spc="-5" dirty="0">
              <a:solidFill>
                <a:schemeClr val="tx1"/>
              </a:solidFill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78084" y="3040860"/>
            <a:ext cx="341630" cy="353060"/>
            <a:chOff x="2878084" y="3040860"/>
            <a:chExt cx="341630" cy="353060"/>
          </a:xfrm>
        </p:grpSpPr>
        <p:sp>
          <p:nvSpPr>
            <p:cNvPr id="10" name="object 10"/>
            <p:cNvSpPr/>
            <p:nvPr/>
          </p:nvSpPr>
          <p:spPr>
            <a:xfrm>
              <a:off x="2882847" y="3045623"/>
              <a:ext cx="332105" cy="343535"/>
            </a:xfrm>
            <a:custGeom>
              <a:avLst/>
              <a:gdLst/>
              <a:ahLst/>
              <a:cxnLst/>
              <a:rect l="l" t="t" r="r" b="b"/>
              <a:pathLst>
                <a:path w="332105" h="343535">
                  <a:moveTo>
                    <a:pt x="36299" y="343349"/>
                  </a:moveTo>
                  <a:lnTo>
                    <a:pt x="0" y="85949"/>
                  </a:lnTo>
                  <a:lnTo>
                    <a:pt x="73649" y="143099"/>
                  </a:lnTo>
                  <a:lnTo>
                    <a:pt x="184649" y="0"/>
                  </a:lnTo>
                  <a:lnTo>
                    <a:pt x="331949" y="114299"/>
                  </a:lnTo>
                  <a:lnTo>
                    <a:pt x="220949" y="257399"/>
                  </a:lnTo>
                  <a:lnTo>
                    <a:pt x="294599" y="314549"/>
                  </a:lnTo>
                  <a:lnTo>
                    <a:pt x="36299" y="34334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82847" y="3045623"/>
              <a:ext cx="332105" cy="343535"/>
            </a:xfrm>
            <a:custGeom>
              <a:avLst/>
              <a:gdLst/>
              <a:ahLst/>
              <a:cxnLst/>
              <a:rect l="l" t="t" r="r" b="b"/>
              <a:pathLst>
                <a:path w="332105" h="343535">
                  <a:moveTo>
                    <a:pt x="331949" y="114299"/>
                  </a:moveTo>
                  <a:lnTo>
                    <a:pt x="220949" y="257399"/>
                  </a:lnTo>
                  <a:lnTo>
                    <a:pt x="294599" y="314549"/>
                  </a:lnTo>
                  <a:lnTo>
                    <a:pt x="36299" y="343349"/>
                  </a:lnTo>
                  <a:lnTo>
                    <a:pt x="0" y="85949"/>
                  </a:lnTo>
                  <a:lnTo>
                    <a:pt x="73649" y="143099"/>
                  </a:lnTo>
                  <a:lnTo>
                    <a:pt x="184649" y="0"/>
                  </a:lnTo>
                  <a:lnTo>
                    <a:pt x="331949" y="1142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637845" y="2012741"/>
            <a:ext cx="375920" cy="382270"/>
            <a:chOff x="6637845" y="2012741"/>
            <a:chExt cx="375920" cy="382270"/>
          </a:xfrm>
        </p:grpSpPr>
        <p:sp>
          <p:nvSpPr>
            <p:cNvPr id="13" name="object 13"/>
            <p:cNvSpPr/>
            <p:nvPr/>
          </p:nvSpPr>
          <p:spPr>
            <a:xfrm>
              <a:off x="6642608" y="2017503"/>
              <a:ext cx="366395" cy="372745"/>
            </a:xfrm>
            <a:custGeom>
              <a:avLst/>
              <a:gdLst/>
              <a:ahLst/>
              <a:cxnLst/>
              <a:rect l="l" t="t" r="r" b="b"/>
              <a:pathLst>
                <a:path w="366395" h="372744">
                  <a:moveTo>
                    <a:pt x="194399" y="372599"/>
                  </a:moveTo>
                  <a:lnTo>
                    <a:pt x="189899" y="279449"/>
                  </a:lnTo>
                  <a:lnTo>
                    <a:pt x="8999" y="288149"/>
                  </a:lnTo>
                  <a:lnTo>
                    <a:pt x="0" y="101849"/>
                  </a:lnTo>
                  <a:lnTo>
                    <a:pt x="180899" y="93149"/>
                  </a:lnTo>
                  <a:lnTo>
                    <a:pt x="176399" y="0"/>
                  </a:lnTo>
                  <a:lnTo>
                    <a:pt x="366299" y="177599"/>
                  </a:lnTo>
                  <a:lnTo>
                    <a:pt x="194399" y="3725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42608" y="2017503"/>
              <a:ext cx="366395" cy="372745"/>
            </a:xfrm>
            <a:custGeom>
              <a:avLst/>
              <a:gdLst/>
              <a:ahLst/>
              <a:cxnLst/>
              <a:rect l="l" t="t" r="r" b="b"/>
              <a:pathLst>
                <a:path w="366395" h="372744">
                  <a:moveTo>
                    <a:pt x="0" y="101849"/>
                  </a:moveTo>
                  <a:lnTo>
                    <a:pt x="180899" y="93149"/>
                  </a:lnTo>
                  <a:lnTo>
                    <a:pt x="176399" y="0"/>
                  </a:lnTo>
                  <a:lnTo>
                    <a:pt x="366299" y="177599"/>
                  </a:lnTo>
                  <a:lnTo>
                    <a:pt x="194399" y="372599"/>
                  </a:lnTo>
                  <a:lnTo>
                    <a:pt x="189899" y="279449"/>
                  </a:lnTo>
                  <a:lnTo>
                    <a:pt x="8999" y="288149"/>
                  </a:lnTo>
                  <a:lnTo>
                    <a:pt x="0" y="1018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65123" y="3124846"/>
            <a:ext cx="18434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Arial"/>
                <a:cs typeface="Arial"/>
              </a:rPr>
              <a:t>Feature</a:t>
            </a:r>
            <a:r>
              <a:rPr sz="1500" b="1" spc="-75" dirty="0">
                <a:latin typeface="Arial"/>
                <a:cs typeface="Arial"/>
              </a:rPr>
              <a:t> </a:t>
            </a:r>
            <a:r>
              <a:rPr sz="1500" b="1" spc="-5" dirty="0">
                <a:latin typeface="Arial"/>
                <a:cs typeface="Arial"/>
              </a:rPr>
              <a:t>engineering</a:t>
            </a:r>
            <a:endParaRPr sz="1500" dirty="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1948" y="1432462"/>
            <a:ext cx="8599170" cy="2306320"/>
            <a:chOff x="361948" y="1432462"/>
            <a:chExt cx="8599170" cy="230632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77274" y="1434560"/>
              <a:ext cx="1838537" cy="172121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366" y="2236650"/>
              <a:ext cx="2039447" cy="7209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948" y="1432462"/>
              <a:ext cx="2281799" cy="8302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44650" y="1451376"/>
              <a:ext cx="1515925" cy="160394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699513" y="3056360"/>
              <a:ext cx="334010" cy="330200"/>
            </a:xfrm>
            <a:custGeom>
              <a:avLst/>
              <a:gdLst/>
              <a:ahLst/>
              <a:cxnLst/>
              <a:rect l="l" t="t" r="r" b="b"/>
              <a:pathLst>
                <a:path w="334009" h="330200">
                  <a:moveTo>
                    <a:pt x="74624" y="329774"/>
                  </a:moveTo>
                  <a:lnTo>
                    <a:pt x="136049" y="259649"/>
                  </a:lnTo>
                  <a:lnTo>
                    <a:pt x="0" y="140249"/>
                  </a:lnTo>
                  <a:lnTo>
                    <a:pt x="122849" y="0"/>
                  </a:lnTo>
                  <a:lnTo>
                    <a:pt x="258899" y="119399"/>
                  </a:lnTo>
                  <a:lnTo>
                    <a:pt x="320324" y="49274"/>
                  </a:lnTo>
                  <a:lnTo>
                    <a:pt x="333524" y="308924"/>
                  </a:lnTo>
                  <a:lnTo>
                    <a:pt x="74624" y="329774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99513" y="3056360"/>
              <a:ext cx="334010" cy="330200"/>
            </a:xfrm>
            <a:custGeom>
              <a:avLst/>
              <a:gdLst/>
              <a:ahLst/>
              <a:cxnLst/>
              <a:rect l="l" t="t" r="r" b="b"/>
              <a:pathLst>
                <a:path w="334009" h="330200">
                  <a:moveTo>
                    <a:pt x="122849" y="0"/>
                  </a:moveTo>
                  <a:lnTo>
                    <a:pt x="258899" y="119399"/>
                  </a:lnTo>
                  <a:lnTo>
                    <a:pt x="320324" y="49274"/>
                  </a:lnTo>
                  <a:lnTo>
                    <a:pt x="333524" y="308924"/>
                  </a:lnTo>
                  <a:lnTo>
                    <a:pt x="74624" y="329774"/>
                  </a:lnTo>
                  <a:lnTo>
                    <a:pt x="136049" y="259649"/>
                  </a:lnTo>
                  <a:lnTo>
                    <a:pt x="0" y="140249"/>
                  </a:lnTo>
                  <a:lnTo>
                    <a:pt x="122849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49242" y="2108861"/>
              <a:ext cx="367030" cy="372745"/>
            </a:xfrm>
            <a:custGeom>
              <a:avLst/>
              <a:gdLst/>
              <a:ahLst/>
              <a:cxnLst/>
              <a:rect l="l" t="t" r="r" b="b"/>
              <a:pathLst>
                <a:path w="367030" h="372744">
                  <a:moveTo>
                    <a:pt x="171599" y="372599"/>
                  </a:moveTo>
                  <a:lnTo>
                    <a:pt x="0" y="177149"/>
                  </a:lnTo>
                  <a:lnTo>
                    <a:pt x="190199" y="0"/>
                  </a:lnTo>
                  <a:lnTo>
                    <a:pt x="185549" y="93149"/>
                  </a:lnTo>
                  <a:lnTo>
                    <a:pt x="366449" y="102299"/>
                  </a:lnTo>
                  <a:lnTo>
                    <a:pt x="357149" y="288599"/>
                  </a:lnTo>
                  <a:lnTo>
                    <a:pt x="176249" y="279449"/>
                  </a:lnTo>
                  <a:lnTo>
                    <a:pt x="171599" y="37259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49242" y="2108861"/>
              <a:ext cx="367030" cy="372745"/>
            </a:xfrm>
            <a:custGeom>
              <a:avLst/>
              <a:gdLst/>
              <a:ahLst/>
              <a:cxnLst/>
              <a:rect l="l" t="t" r="r" b="b"/>
              <a:pathLst>
                <a:path w="367030" h="372744">
                  <a:moveTo>
                    <a:pt x="357149" y="288599"/>
                  </a:moveTo>
                  <a:lnTo>
                    <a:pt x="176249" y="279449"/>
                  </a:lnTo>
                  <a:lnTo>
                    <a:pt x="171599" y="372599"/>
                  </a:lnTo>
                  <a:lnTo>
                    <a:pt x="0" y="177149"/>
                  </a:lnTo>
                  <a:lnTo>
                    <a:pt x="190199" y="0"/>
                  </a:lnTo>
                  <a:lnTo>
                    <a:pt x="185549" y="93149"/>
                  </a:lnTo>
                  <a:lnTo>
                    <a:pt x="366449" y="102299"/>
                  </a:lnTo>
                  <a:lnTo>
                    <a:pt x="357149" y="2885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88272" y="3390498"/>
              <a:ext cx="332105" cy="343535"/>
            </a:xfrm>
            <a:custGeom>
              <a:avLst/>
              <a:gdLst/>
              <a:ahLst/>
              <a:cxnLst/>
              <a:rect l="l" t="t" r="r" b="b"/>
              <a:pathLst>
                <a:path w="332104" h="343535">
                  <a:moveTo>
                    <a:pt x="36299" y="343349"/>
                  </a:moveTo>
                  <a:lnTo>
                    <a:pt x="0" y="85949"/>
                  </a:lnTo>
                  <a:lnTo>
                    <a:pt x="73649" y="143099"/>
                  </a:lnTo>
                  <a:lnTo>
                    <a:pt x="184649" y="0"/>
                  </a:lnTo>
                  <a:lnTo>
                    <a:pt x="331949" y="114299"/>
                  </a:lnTo>
                  <a:lnTo>
                    <a:pt x="220949" y="257399"/>
                  </a:lnTo>
                  <a:lnTo>
                    <a:pt x="294599" y="314549"/>
                  </a:lnTo>
                  <a:lnTo>
                    <a:pt x="36299" y="343349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88272" y="3390498"/>
              <a:ext cx="332105" cy="343535"/>
            </a:xfrm>
            <a:custGeom>
              <a:avLst/>
              <a:gdLst/>
              <a:ahLst/>
              <a:cxnLst/>
              <a:rect l="l" t="t" r="r" b="b"/>
              <a:pathLst>
                <a:path w="332104" h="343535">
                  <a:moveTo>
                    <a:pt x="331949" y="114299"/>
                  </a:moveTo>
                  <a:lnTo>
                    <a:pt x="220949" y="257399"/>
                  </a:lnTo>
                  <a:lnTo>
                    <a:pt x="294599" y="314549"/>
                  </a:lnTo>
                  <a:lnTo>
                    <a:pt x="36299" y="343349"/>
                  </a:lnTo>
                  <a:lnTo>
                    <a:pt x="0" y="85949"/>
                  </a:lnTo>
                  <a:lnTo>
                    <a:pt x="73649" y="143099"/>
                  </a:lnTo>
                  <a:lnTo>
                    <a:pt x="184649" y="0"/>
                  </a:lnTo>
                  <a:lnTo>
                    <a:pt x="331949" y="1142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56100" y="3219301"/>
              <a:ext cx="328295" cy="328930"/>
            </a:xfrm>
            <a:custGeom>
              <a:avLst/>
              <a:gdLst/>
              <a:ahLst/>
              <a:cxnLst/>
              <a:rect l="l" t="t" r="r" b="b"/>
              <a:pathLst>
                <a:path w="328295" h="328929">
                  <a:moveTo>
                    <a:pt x="314849" y="328724"/>
                  </a:moveTo>
                  <a:lnTo>
                    <a:pt x="55049" y="323174"/>
                  </a:lnTo>
                  <a:lnTo>
                    <a:pt x="123299" y="259649"/>
                  </a:lnTo>
                  <a:lnTo>
                    <a:pt x="0" y="127049"/>
                  </a:lnTo>
                  <a:lnTo>
                    <a:pt x="136499" y="0"/>
                  </a:lnTo>
                  <a:lnTo>
                    <a:pt x="259799" y="132599"/>
                  </a:lnTo>
                  <a:lnTo>
                    <a:pt x="328049" y="69074"/>
                  </a:lnTo>
                  <a:lnTo>
                    <a:pt x="314849" y="328724"/>
                  </a:lnTo>
                  <a:close/>
                </a:path>
              </a:pathLst>
            </a:custGeom>
            <a:solidFill>
              <a:srgbClr val="4A8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56100" y="3219301"/>
              <a:ext cx="328295" cy="328930"/>
            </a:xfrm>
            <a:custGeom>
              <a:avLst/>
              <a:gdLst/>
              <a:ahLst/>
              <a:cxnLst/>
              <a:rect l="l" t="t" r="r" b="b"/>
              <a:pathLst>
                <a:path w="328295" h="328929">
                  <a:moveTo>
                    <a:pt x="136499" y="0"/>
                  </a:moveTo>
                  <a:lnTo>
                    <a:pt x="259799" y="132599"/>
                  </a:lnTo>
                  <a:lnTo>
                    <a:pt x="328049" y="69074"/>
                  </a:lnTo>
                  <a:lnTo>
                    <a:pt x="314849" y="328724"/>
                  </a:lnTo>
                  <a:lnTo>
                    <a:pt x="55049" y="323174"/>
                  </a:lnTo>
                  <a:lnTo>
                    <a:pt x="123299" y="259649"/>
                  </a:lnTo>
                  <a:lnTo>
                    <a:pt x="0" y="127049"/>
                  </a:lnTo>
                  <a:lnTo>
                    <a:pt x="136499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86125" y="3010307"/>
            <a:ext cx="13779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Selección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atributos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22074" y="3106020"/>
            <a:ext cx="14433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Matrices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correlación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93699" y="3552874"/>
            <a:ext cx="1612142" cy="1207008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7322074" y="4833620"/>
            <a:ext cx="15043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Importancia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atributos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3485875"/>
            <a:ext cx="2731725" cy="1117525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606350" y="4788357"/>
            <a:ext cx="135191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Arial"/>
                <a:cs typeface="Arial"/>
              </a:rPr>
              <a:t>(Im)Balance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clases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869550" y="3798975"/>
            <a:ext cx="2468880" cy="879475"/>
            <a:chOff x="2869550" y="3798975"/>
            <a:chExt cx="2468880" cy="879475"/>
          </a:xfrm>
        </p:grpSpPr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9075" y="3808500"/>
              <a:ext cx="2449699" cy="85980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874312" y="3803737"/>
              <a:ext cx="2459355" cy="869950"/>
            </a:xfrm>
            <a:custGeom>
              <a:avLst/>
              <a:gdLst/>
              <a:ahLst/>
              <a:cxnLst/>
              <a:rect l="l" t="t" r="r" b="b"/>
              <a:pathLst>
                <a:path w="2459354" h="869950">
                  <a:moveTo>
                    <a:pt x="0" y="0"/>
                  </a:moveTo>
                  <a:lnTo>
                    <a:pt x="2459224" y="0"/>
                  </a:lnTo>
                  <a:lnTo>
                    <a:pt x="2459224" y="869325"/>
                  </a:lnTo>
                  <a:lnTo>
                    <a:pt x="0" y="8693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888150" y="4845282"/>
            <a:ext cx="128714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Agrupación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de</a:t>
            </a:r>
            <a:r>
              <a:rPr sz="1000" b="1" spc="-40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datos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528762" y="3715137"/>
            <a:ext cx="1472565" cy="958215"/>
            <a:chOff x="5528762" y="3715137"/>
            <a:chExt cx="1472565" cy="958215"/>
          </a:xfrm>
        </p:grpSpPr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04358" y="3764984"/>
              <a:ext cx="460700" cy="87735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88207" y="3798622"/>
              <a:ext cx="429958" cy="82531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24668" y="3980373"/>
              <a:ext cx="227624" cy="22942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533525" y="3719900"/>
              <a:ext cx="1463040" cy="948690"/>
            </a:xfrm>
            <a:custGeom>
              <a:avLst/>
              <a:gdLst/>
              <a:ahLst/>
              <a:cxnLst/>
              <a:rect l="l" t="t" r="r" b="b"/>
              <a:pathLst>
                <a:path w="1463040" h="948689">
                  <a:moveTo>
                    <a:pt x="0" y="0"/>
                  </a:moveTo>
                  <a:lnTo>
                    <a:pt x="1462499" y="0"/>
                  </a:lnTo>
                  <a:lnTo>
                    <a:pt x="1462499" y="948299"/>
                  </a:lnTo>
                  <a:lnTo>
                    <a:pt x="0" y="948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494462" y="4691895"/>
            <a:ext cx="15748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latin typeface="Arial"/>
                <a:cs typeface="Arial"/>
              </a:rPr>
              <a:t>Codificación de datos 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Escalado</a:t>
            </a:r>
            <a:r>
              <a:rPr sz="1000" b="1" spc="-5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y</a:t>
            </a:r>
            <a:r>
              <a:rPr sz="1000" b="1" spc="-45" dirty="0">
                <a:latin typeface="Arial"/>
                <a:cs typeface="Arial"/>
              </a:rPr>
              <a:t> </a:t>
            </a:r>
            <a:r>
              <a:rPr sz="1000" b="1" spc="-5" dirty="0">
                <a:latin typeface="Arial"/>
                <a:cs typeface="Arial"/>
              </a:rPr>
              <a:t>normalización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9399"/>
            <a:ext cx="8995410" cy="732155"/>
          </a:xfrm>
          <a:custGeom>
            <a:avLst/>
            <a:gdLst/>
            <a:ahLst/>
            <a:cxnLst/>
            <a:rect l="l" t="t" r="r" b="b"/>
            <a:pathLst>
              <a:path w="8995410" h="732155">
                <a:moveTo>
                  <a:pt x="0" y="0"/>
                </a:moveTo>
                <a:lnTo>
                  <a:pt x="8994899" y="0"/>
                </a:lnTo>
                <a:lnTo>
                  <a:pt x="89948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724" y="764818"/>
            <a:ext cx="867227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5" dirty="0">
                <a:latin typeface="Arial"/>
                <a:cs typeface="Arial"/>
              </a:rPr>
              <a:t>Paso 6: </a:t>
            </a:r>
            <a:r>
              <a:rPr lang="es-ES" sz="1800" spc="-5" dirty="0">
                <a:latin typeface="Arial"/>
                <a:cs typeface="Arial"/>
              </a:rPr>
              <a:t>Predicción o modelado de datos (</a:t>
            </a:r>
            <a:r>
              <a:rPr lang="es-ES" sz="1800" i="1" spc="-5" dirty="0">
                <a:latin typeface="Arial"/>
                <a:cs typeface="Arial"/>
              </a:rPr>
              <a:t>Machine </a:t>
            </a:r>
            <a:r>
              <a:rPr lang="es-ES" sz="1800" i="1" spc="-5" dirty="0" err="1">
                <a:latin typeface="Arial"/>
                <a:cs typeface="Arial"/>
              </a:rPr>
              <a:t>Learning</a:t>
            </a:r>
            <a:r>
              <a:rPr lang="es-ES" sz="1800" i="1" spc="-5" dirty="0">
                <a:latin typeface="Arial"/>
                <a:cs typeface="Arial"/>
              </a:rPr>
              <a:t> o Deep </a:t>
            </a:r>
            <a:r>
              <a:rPr lang="es-ES" sz="1800" i="1" spc="-5" dirty="0" err="1">
                <a:latin typeface="Arial"/>
                <a:cs typeface="Arial"/>
              </a:rPr>
              <a:t>Learning</a:t>
            </a:r>
            <a:r>
              <a:rPr lang="es-ES" sz="1800" spc="-5" dirty="0">
                <a:latin typeface="Arial"/>
                <a:cs typeface="Arial"/>
              </a:rPr>
              <a:t>) 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352551"/>
            <a:ext cx="4038600" cy="35121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888725" y="4864742"/>
            <a:ext cx="217804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000" dirty="0">
                <a:solidFill>
                  <a:srgbClr val="595959"/>
                </a:solidFill>
                <a:latin typeface="Arial MT"/>
                <a:cs typeface="Arial MT"/>
              </a:rPr>
              <a:t>14</a:t>
            </a:fld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9399"/>
            <a:ext cx="8995410" cy="732155"/>
          </a:xfrm>
          <a:custGeom>
            <a:avLst/>
            <a:gdLst/>
            <a:ahLst/>
            <a:cxnLst/>
            <a:rect l="l" t="t" r="r" b="b"/>
            <a:pathLst>
              <a:path w="8995410" h="732155">
                <a:moveTo>
                  <a:pt x="0" y="0"/>
                </a:moveTo>
                <a:lnTo>
                  <a:pt x="8994899" y="0"/>
                </a:lnTo>
                <a:lnTo>
                  <a:pt x="8994899" y="731999"/>
                </a:lnTo>
                <a:lnTo>
                  <a:pt x="0" y="731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200" y="787115"/>
            <a:ext cx="8519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1800" b="1" spc="-5" dirty="0">
                <a:latin typeface="Arial"/>
                <a:cs typeface="Arial"/>
              </a:rPr>
              <a:t>Paso 7: </a:t>
            </a:r>
            <a:r>
              <a:rPr lang="es-ES" sz="1800" i="1" spc="-5" dirty="0">
                <a:latin typeface="Arial"/>
                <a:cs typeface="Arial"/>
              </a:rPr>
              <a:t>Data Storytelling  </a:t>
            </a:r>
            <a:endParaRPr sz="1800" i="1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103" y="1276350"/>
            <a:ext cx="3047999" cy="1714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2318" y="3257550"/>
            <a:ext cx="3673499" cy="16836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1308843"/>
            <a:ext cx="3734499" cy="21062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88725" y="4864742"/>
            <a:ext cx="217804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000" dirty="0">
                <a:solidFill>
                  <a:srgbClr val="595959"/>
                </a:solidFill>
                <a:latin typeface="Arial MT"/>
                <a:cs typeface="Arial MT"/>
              </a:rPr>
              <a:t>15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026" name="Picture 2" descr="Storytelling with Data: A Data Visualization Guide for Business  Professionals: Nussbaumer Knaflic, Cole: 9781119002253: Amazon.com: Books">
            <a:extLst>
              <a:ext uri="{FF2B5EF4-FFF2-40B4-BE49-F238E27FC236}">
                <a16:creationId xmlns:a16="http://schemas.microsoft.com/office/drawing/2014/main" id="{AA50D403-4449-3076-8123-30746B37C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799" y="3562350"/>
            <a:ext cx="1235549" cy="15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438</Words>
  <Application>Microsoft Macintosh PowerPoint</Application>
  <PresentationFormat>On-screen Show (16:9)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MT</vt:lpstr>
      <vt:lpstr>Calibri</vt:lpstr>
      <vt:lpstr>Office Theme</vt:lpstr>
      <vt:lpstr>Ciencia de datos</vt:lpstr>
      <vt:lpstr>¿Qué es la ciencia de datos?</vt:lpstr>
      <vt:lpstr>El método científico</vt:lpstr>
      <vt:lpstr>Datos procedentes de:</vt:lpstr>
      <vt:lpstr>¿Con qué propósito usamos ciencia de datos?</vt:lpstr>
      <vt:lpstr>Mercado laboral</vt:lpstr>
      <vt:lpstr>Mercado laboral</vt:lpstr>
      <vt:lpstr>Competencias del científico de datos</vt:lpstr>
      <vt:lpstr>Paso 1: Identificación del problema</vt:lpstr>
      <vt:lpstr>Paso 2: Recolección de los datos</vt:lpstr>
      <vt:lpstr>Paso 3: Limpieza de los datos</vt:lpstr>
      <vt:lpstr>Paso 4: Análisis Exploratorio de Datos (EDA)</vt:lpstr>
      <vt:lpstr>Paso 5: Feature engineering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DataScience_clase1</dc:title>
  <cp:lastModifiedBy>Daniel M. Bustos Guajardo</cp:lastModifiedBy>
  <cp:revision>6</cp:revision>
  <dcterms:created xsi:type="dcterms:W3CDTF">2023-09-12T17:39:35Z</dcterms:created>
  <dcterms:modified xsi:type="dcterms:W3CDTF">2023-09-12T18:47:28Z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